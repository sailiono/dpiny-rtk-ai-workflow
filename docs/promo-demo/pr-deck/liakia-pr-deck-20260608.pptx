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6.xml"/>
</Relationships>
</file>

<file path=ppt/notesSlides/_rels/notesSlide2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7.xml"/>
</Relationships>
</file>

<file path=ppt/notesSlides/_rels/notesSlide2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8.xml"/>
</Relationships>
</file>

<file path=ppt/notesSlides/_rels/notesSlide2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9.xml"/>
</Relationships>
</file>

<file path=ppt/notesSlides/_rels/notesSlide3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0.xml"/>
</Relationships>
</file>

<file path=ppt/notesSlides/_rels/notesSlide3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1.xml"/>
</Relationships>
</file>

<file path=ppt/notesSlides/_rels/notesSlide3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2.xml"/>
</Relationships>
</file>

<file path=ppt/notesSlides/_rels/notesSlide3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3.xml"/>
</Relationships>
</file>

<file path=ppt/notesSlides/_rels/notesSlide3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4.xml"/>
</Relationships>
</file>

<file path=ppt/notesSlides/_rels/notesSlide3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5.xml"/>
</Relationships>
</file>

<file path=ppt/notesSlides/_rels/notesSlide3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6.xml"/>
</Relationships>
</file>

<file path=ppt/notesSlides/_rels/notesSlide3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7.xml"/>
</Relationships>
</file>

<file path=ppt/notesSlides/_rels/notesSlide3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8.xml"/>
</Relationships>
</file>

<file path=ppt/notesSlides/_rels/notesSlide3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9.xml"/>
</Relationships>
</file>

<file path=ppt/notesSlides/_rels/notesSlide4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0.xml"/>
</Relationships>
</file>

<file path=ppt/notesSlides/_rels/notesSlide4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1.xml"/>
</Relationships>
</file>

<file path=ppt/notesSlides/_rels/notesSlide4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2.xml"/>
</Relationships>
</file>

<file path=ppt/notesSlides/_rels/notesSlide4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3.xml"/>
</Relationships>
</file>

<file path=ppt/notesSlides/_rels/notesSlide4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4.xml"/>
</Relationships>
</file>

<file path=ppt/notesSlides/_rels/notesSlide4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5.xml"/>
</Relationships>
</file>

<file path=ppt/notesSlides/_rels/notesSlide4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6.xml"/>
</Relationships>
</file>

<file path=ppt/notesSlides/_rels/notesSlide4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7.xml"/>
</Relationships>
</file>

<file path=ppt/notesSlides/_rels/notesSlide4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这一版不再把 Liakia 当成一个网页展示来讲，而是把它讲成 STM32 团队的交付工作流。核心线索是 build、flash、test、diagnose、evidence、handoff。汇报时先建立定位：Liakia 的目标不是让 AI 代替工程师签字，而是把每次工程动作变成可复查、可回放、可交接的证据链。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嵌入式交付里真正消耗时间的部分，往往不是写代码，而是重复构建、烧录、串口检查、协议确认和故障复盘。传统方式里，证据散在终端、截图和聊天记录里。Liakia 要解决的是“这次到底做了什么、结果是什么、别人能不能复查”的问题。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这页把 Liakia 的闭环讲清楚：代码修改进入构建，构建产物被烧录，硬件接口被测试，失败被分类诊断，最后产出证据包和交接报告。这里要强调每一环都要留下日志和摘要，因为未来 PR 的质量不只看页面效果，而看这条闭环是否更完整。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仓库不是只有一个 landing page，它已经拆出了几类材料：真实工程 proof case、低成本学习路径、证据目录、workflow adapter 和 AI agent contract。汇报时可以把这页作为目录，告诉听众后面会从“可信、可试、可接入”三个维度展开。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可信度来自证据，而不是页面描述。这里要讲 manifest、build log、flash log、serial test、RTCM CRC、USB CDC reset recovery 和 register probe 各自证明什么。重点是让评审者意识到：Liakia 的输出不是一句“测试通过”，而是一组可以追溯的材料。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Remote HIL 的关键不是远程桌面，而是远程触发真实硬件旁边的执行节点。目标板、ST-LINK、USB CDC、UART shell 和协议采集口都连接在台架电脑上，开发者远程触发流程，证据在台架侧生成并回传。这让稀缺样机也能被多人共享验证。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Learn it 面向第一次接触 Liakia 的读者。Starter-F103 让读者用低成本硬件体验故障复现、证据采集、AI 诊断和最小修复。这里要强调学习路径不能只是教程，而要包含 known-bad case，让读者真的看到 AI 如何基于证据缩小问题。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Trust it 面向技术评审者。评审顺序应该是先看 manifest，再看关键日志，再看协议和串口结果，最后看 AI 诊断是否遵守人审边界。要主动说明哪些动作不能自动化，例如危险烧录、寄存器写入、flash layout 和安全逻辑。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Adopt it 是客户接入路径。它不是要求客户立即把整套研发流程迁移过来，而是在三到五天内选一个板卡、一条链路，跑通 adapter、build、flash、test、evidence 和 handoff。这样客户能用真实结果判断是否继续投入。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早期路线图可以概括为三个方向：入口更清晰、证据更好读、接入更容易。后续 PR 应围绕这三个方向增加材料，而不是只做视觉润色。讲这页时，可以把网页优化和工程材料补全区分开，说明我们下一步要把展示项目做厚。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从这一页开始进入深度版内容。汇报结构分成六段：工作流拆解、证据包、真实案例、Starter-F103、AI agent 边界、商业接入。这样 PPT 和网页形成区分：网页负责导航，PPT 负责把为什么可信、怎么验证、怎么落地讲透。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Liakia 的设计原则可以用三句话概括：证据优先、最小改变、人审边界。证据优先避免 AI 凭空判断；最小改变让 PR 可 review；人审边界保证硬件安全和最终责任。后面的所有流程页都围绕这三条原则展开。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这页说明 workflow contract 的作用：把每个阶段的输入、命令、输出和失败处理固定下来。对嵌入式团队来说，流程可重复比单次成功更重要。只要 contract 清楚，AI agent、脚本和人工 review 才能围绕同一套事实协作。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Build 阶段不是简单运行一次编译命令，而是要记录工具链、分支、commit、环境和产物。失败时要保留完整日志，成功时要记录 firmware size 和 hash。这样后续烧录和测试都能指向同一个产物，而不是靠口头确认。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Flash 阶段的风险在于它直接改变硬件状态，所以必须保存连接参数、烧录命令、校验结果和 reset 行为。汇报时要强调 verify 和 reset 不是细节，而是让“真的烧进去了”可以被复查的关键证据。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Serial 阶段验证设备是否真的能被操作。常见检查包括 port 是否存在、version 是否响应、shell 命令是否可靠、reset 前后是否恢复。这里要提醒听众：串口成功不是一句描述，而是一段带时间和响应内容的可审查日志。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协议阶段把业务正确性纳入测试，例如 RTCM frame count、CRC OK、CRC BAD 和消息类型统计。对于协议设备来说，能收字节不等于解析正确。Liakia 的价值是把协议质量转成机器可读摘要，并进入交接报告。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Register probe 是只读证据采集，用来判断外设时钟、GPIO、USART、USB 或 fault 状态。它不能代替原理图和人工判断，但能在故障复盘时提供关键现场快照。这里要强调只读边界，避免听众误解为 AI 可以随意写寄存器。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Evidence package 是 Liakia 的核心交付物。它把 manifest、环境检查、build、flash、shell、protocol、register probe、summary 和 handoff report 放到同一个结构里。这样团队交接时不用再翻聊天记录，也不用依赖执行者记忆。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Manifest 的作用是建立证据包索引。它应该记录时间、操作者、reviewer、branch、commit、dirty tree、toolchain、硬件接口和关键日志路径。汇报时可以把它类比成证据包的目录和审计入口。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Test summary 不是给机器看的日志堆，而是给人快速判断的摘要。它要回答哪些检查通过、哪些失败、失败阶段是什么、下一步需要补什么证据。这样的 summary 让管理者和工程师都能快速进入同一事实基础。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Handoff report 面向接收方。它应该说明本次交付做了什么、哪些证据证明通过、哪些风险没有覆盖、哪些动作需要人工确认。对客户来说，这比简单说“代码已修复”更有商业价值，因为它降低了接收成本。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USB CDC case 用真实工程说明 Liakia 的价值。平台是 STM32F407、FreeRTOS 和 USB CDC shell，问题是 reset 后 COM 口存在但 shell 不稳定。这个案例有实际故障、实际 gate 和实际回归证据，比纯网页介绍更能建立可信度。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症状页要讲清楚失败不总是“设备完全不可见”。更棘手的是 COM 口看起来在，但 shell 不响应，或者 Windows COM open/write 失败。这种问题很容易在人工测试里被忽略，所以需要脚本化 gate 和原始日志。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USB CDC reset gate 覆盖五件事：port 存在、reset 前 version 可读、reset 命令被接受、port 能恢复、恢复后 version 仍可读。这是典型的“把一次故障变成以后必须通过的回归关卡”。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回归页说明 baseline 不是单个脚本，而是一组连贯检查：dependency、build、flash、post-flash availability、functional serial、input validation、RTCM stream 和 USB reset recovery。PR 里只要这些都过，评审信心会高很多。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RTCM CRC case 说明协议正确性需要统计证据。日志里 byte count、frame count、CRC OK、CRC BAD 和消息类型都应可见。讲这页时重点强调：CRC BAD 为 0 不是漂亮数字，而是协议链路可交付的关键证据。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Remote HIL 页解释台架形态：硬件留在 bench PC 旁，远程只触发命令和拉取证据。这样团队可以共享稀缺硬件，也能让失败尝试留下证据。它不是把人从流程里拿掉，而是把重复操作交给可复现流程。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这页用具体数字提升可信度，例如采集字节数、frame count、CRC OK、CRC BAD、USB reset PASS 和证据回传路径。汇报时可以强调：这些数字不是营销口径，而是证据包里能被打开和复查的字段。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Starter-F103 的任务是把 Liakia 降到可动手体验的门槛。它用便宜板卡和常见外设，让读者经历 build、flash、serial、sensor、fault 和 recovery。这个路径能支撑 workshop、客户 demo 和团队内部培训。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BOM 页要说明这套学习台架为什么可复制：F103C8T6、ST-LINK、USB-UART、传感器、线材和面包板都容易获得。低成本不是为了玩具化，而是让更多人可以亲手理解“证据驱动工作流”。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Case A 说明 I2C 在线不等于数据可信。chip ID 可能正常，但补偿参数、解码路径或数据范围仍可能错误。汇报时用它强调测试不能只看通信成功，还要看业务数据是否可信。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Case B 讲 reset 后总线异常。它适合展示 Liakia 如何记录 reset 前后状态、I2C 错误码和最小复现命令。这里的重点是把偶发问题变成可重复验证的问题，而不是靠人工反复插拔碰运气。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Case C 讲配置持久化失败。保存命令返回 OK 不代表复位后仍然正确，所以必须覆盖 save、read、reset、read 的完整链路。这个案例让听众理解为什么 evidence 必须跨越一次设备状态变化。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Case D 讲 UART DMA 和 IDLE 边界丢帧。此类 timing 问题往往不是完全失败，而是偶发少帧。Liakia 应该固定输入样本、记录帧边界、输出统计摘要，用数据而不是感觉决定是否修复成功。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 诊断页用输入、分析、输出、边界四段讲清楚模型角色。输入是日志和摘要，分析是分类与假设，输出是下一步验证和最小修复建议，边界是不能绕过人审。这样能减少听众对“AI 自动控制硬件”的误解。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Failure triage 提供一个可执行顺序：复现、捕获输出、分类失败、提出假设、补采证据、标注置信度、最小修复、重跑回归。汇报时可以强调置信度标签，因为它让 AI 的不确定性被明确暴露。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Operation contract 说明 AI 和工程师的职责分工。AI 做可审查修改、运行可重复命令、保留日志；工程师确认需求、风险、烧录和安全边界。遇到硬件损坏风险、flash layout、寄存器写入或证据冲突时必须停止。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Project adapter 把不同项目的差异配置化。project、build、flash、serial、tests 和 register probe 都进入 JSON 配置，最终输出仍然统一到 evidence package。这样 Liakia 才能从一个 proof case 扩展到更多 STM32 项目。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这一页给出三类可扩展模板：基础 shell 项目、传感器网关、协议设备。它们对应不同测试重点，但都能复用同一套 build、flash、test、evidence 框架。后续 PR 可以把这些示例做成可复制 adapter。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客户接入前需要收集工程输入和风险输入。工程输入包括仓库、MCU、toolchain、烧录和接口；风险输入包括危险命令、寄存器边界、电源隔离、看门狗和签收角色。边界越清楚，pilot 越容易成功。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一周 pilot 把商业落地拆成五天：D1 梳理输入，D2 接入构建，D3 接入硬件，D4 沉淀测试，D5 交付证据。这个节奏帮助客户在短周期内看到真实产出，而不是只听平台愿景。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商业用例包括板级 bringup、固件回归、AI 辅助诊断、交接证据包和 Remote HIL。汇报时可以结合客户场景选择重点，不必全部展开。核心是说明 Liakia 对齐的是嵌入式团队真实耗时点。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ROI 页要讲得谨慎。Liakia 能压缩的是构建修复、测试脚本、日志分析和证据整理，不压缩原理图审查、电源隔离、安全逻辑和最终签收。这样收益可信，边界也清楚。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后续每个 PR 都应该按 Problem、Change、Evidence、Risk、Next action 包装。这样评审者一眼能看到为什么改、改了什么、怎么证明、风险在哪里、下一步做什么。展示项目也会从页面仓库变成工程材料仓库。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Roadmap 页把下一阶段拆成五批 PR：入口叙事、证据浏览、Starter cases、Adapter 样例、Pilot kit。讲这页时可以强调优先级：先让人看懂，再让人相信，再让人能试跑，最后让人能接入。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这页是给演讲者的脚本。让听众带着五个问题听：解决什么问题、证据在哪里、AI 做什么、人审边界在哪里、下一步 PR 怎么推进。这样整份 deck 的内容会围绕判断问题展开，而不是变成页面逐张介绍。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最后收束到一句话：下一步不是再做一个展示页，而是把 Liakia 做成可信工作流。可信靠证据入口和日志索引，可试靠 Starter-F103 和 known-bad cases，可接入靠 adapter、pilot kit 和交付模板。后续 PR 都应该服务这三个目标。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515699e297f79a0d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c5ad96e39963896f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80e004d5beaece10.png"/>
  <Relationship Id="rId3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5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6.xml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7.xml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8.xml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9.xml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0.xml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1.xml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2.xml"/>
</Relationships>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3.xml"/>
</Relationships>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4.xml"/>
</Relationships>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5.xml"/>
</Relationships>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5ed2e4af0e6c9372.png"/>
  <Relationship Id="rId3" Type="http://schemas.openxmlformats.org/officeDocument/2006/relationships/notesSlide" Target="../notesSlides/notesSlide36.xml"/>
</Relationships>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7.xml"/>
</Relationships>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8.xml"/>
</Relationships>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9.xml"/>
</Relationships>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0.xml"/>
</Relationships>
</file>

<file path=ppt/slides/_rels/slide4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1.xml"/>
</Relationships>
</file>

<file path=ppt/slides/_rels/slide4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2.xml"/>
</Relationships>
</file>

<file path=ppt/slides/_rels/slide4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d5c8309961bb5652.png"/>
  <Relationship Id="rId3" Type="http://schemas.openxmlformats.org/officeDocument/2006/relationships/notesSlide" Target="../notesSlides/notesSlide43.xml"/>
</Relationships>
</file>

<file path=ppt/slides/_rels/slide4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4.xml"/>
</Relationships>
</file>

<file path=ppt/slides/_rels/slide4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5.xml"/>
</Relationships>
</file>

<file path=ppt/slides/_rels/slide4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6.xml"/>
</Relationships>
</file>

<file path=ppt/slides/_rels/slide4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7.xml"/>
</Relationships>
</file>

<file path=ppt/slides/_rels/slide4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0" y="-857250"/>
            <a:ext cx="12287250" cy="7715250"/>
            <a:chOff x="0" y="-857250"/>
            <a:chExt cx="12287250" cy="771525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AF2F6">
                <a:alpha val="55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286750" y="-857250"/>
              <a:ext cx="4000500" cy="4000500"/>
            </a:xfrm>
            <a:prstGeom prst="ellipse">
              <a:avLst/>
            </a:prstGeom>
            <a:solidFill>
              <a:srgbClr val="2563EB">
                <a:alpha val="10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810750" y="714375"/>
              <a:ext cx="2095500" cy="2095500"/>
            </a:xfrm>
            <a:prstGeom prst="ellipse">
              <a:avLst/>
            </a:prstGeom>
            <a:solidFill>
              <a:srgbClr val="EA580C">
                <a:alpha val="12000"/>
              </a:srgbClr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666750" y="5619750"/>
              <a:ext cx="3333750" cy="571500"/>
            </a:xfrm>
            <a:custGeom>
              <a:avLst/>
              <a:gdLst/>
              <a:ahLst/>
              <a:cxnLst/>
              <a:rect l="l" t="t" r="r" b="b"/>
              <a:pathLst>
                <a:path w="3333750" h="571500">
                  <a:moveTo>
                    <a:pt x="0" y="0"/>
                  </a:moveTo>
                  <a:lnTo>
                    <a:pt x="2667000" y="0"/>
                  </a:lnTo>
                  <a:lnTo>
                    <a:pt x="333375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0B1F2A">
                <a:alpha val="8000"/>
              </a:srgbClr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72500" y="5810250"/>
              <a:ext cx="2933700" cy="209550"/>
            </a:xfrm>
            <a:custGeom>
              <a:avLst/>
              <a:gdLst/>
              <a:ahLst/>
              <a:cxnLst/>
              <a:rect l="l" t="t" r="r" b="b"/>
              <a:pathLst>
                <a:path w="2933700" h="209550">
                  <a:moveTo>
                    <a:pt x="0" y="0"/>
                  </a:moveTo>
                  <a:lnTo>
                    <a:pt x="2933700" y="0"/>
                  </a:lnTo>
                  <a:lnTo>
                    <a:pt x="2933700" y="209550"/>
                  </a:lnTo>
                  <a:lnTo>
                    <a:pt x="0" y="209550"/>
                  </a:lnTo>
                  <a:close/>
                </a:path>
              </a:pathLst>
            </a:custGeom>
            <a:solidFill>
              <a:srgbClr val="7C3AED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705600" y="914400"/>
            <a:ext cx="4953000" cy="3714750"/>
            <a:chOff x="6705600" y="914400"/>
            <a:chExt cx="4953000" cy="371475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rcRect l="12480" t="0" r="12480" b="0"/>
            <a:stretch>
              <a:fillRect/>
            </a:stretch>
          </p:blipFill>
          <p:spPr>
            <a:xfrm>
              <a:off x="6705600" y="914400"/>
              <a:ext cx="4953000" cy="3714750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6705600" y="914400"/>
              <a:ext cx="4953000" cy="3714750"/>
            </a:xfrm>
            <a:prstGeom prst="roundRect">
              <a:avLst>
                <a:gd name="adj" fmla="val 5641"/>
              </a:avLst>
            </a:prstGeom>
            <a:solidFill>
              <a:srgbClr val="FFFFFF">
                <a:alpha val="0"/>
              </a:srgbClr>
            </a:solidFill>
            <a:ln w="19050">
              <a:solidFill>
                <a:srgbClr val="BFDBFE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464820" y="819150"/>
            <a:ext cx="3405950" cy="2681288"/>
            <a:chOff x="464820" y="819150"/>
            <a:chExt cx="3405950" cy="2681288"/>
          </a:xfrm>
        </p:grpSpPr>
        <p:sp>
          <p:nvSpPr>
            <p:cNvPr id="12" name="Rectangle 12"/>
            <p:cNvSpPr/>
            <p:nvPr/>
          </p:nvSpPr>
          <p:spPr>
            <a:xfrm>
              <a:off x="533400" y="819150"/>
              <a:ext cx="1123950" cy="342900"/>
            </a:xfrm>
            <a:prstGeom prst="roundRect">
              <a:avLst>
                <a:gd name="adj" fmla="val 50000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29615" y="9344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汇报材料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4820" y="1779270"/>
              <a:ext cx="2254225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Liakia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8640" y="2701290"/>
              <a:ext cx="33221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从展示项目到可信交付工作流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3405" y="3226118"/>
              <a:ext cx="32296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构建 → 烧录 → 测试 → 诊断 → 证据 → 交接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4133850"/>
            <a:ext cx="6238875" cy="581025"/>
            <a:chOff x="571500" y="4133850"/>
            <a:chExt cx="6238875" cy="581025"/>
          </a:xfrm>
        </p:grpSpPr>
        <p:sp>
          <p:nvSpPr>
            <p:cNvPr id="18" name="Rectangle 18"/>
            <p:cNvSpPr/>
            <p:nvPr/>
          </p:nvSpPr>
          <p:spPr>
            <a:xfrm>
              <a:off x="571500" y="4133850"/>
              <a:ext cx="1952625" cy="552450"/>
            </a:xfrm>
            <a:prstGeom prst="roundRect">
              <a:avLst>
                <a:gd name="adj" fmla="val 24138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781050" y="4276725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266700"/>
                  </a:moveTo>
                  <a:cubicBezTo>
                    <a:pt x="206998" y="266700"/>
                    <a:pt x="266700" y="206998"/>
                    <a:pt x="266700" y="133350"/>
                  </a:cubicBezTo>
                  <a:cubicBezTo>
                    <a:pt x="266700" y="59703"/>
                    <a:pt x="206998" y="0"/>
                    <a:pt x="133350" y="0"/>
                  </a:cubicBezTo>
                  <a:cubicBezTo>
                    <a:pt x="59703" y="0"/>
                    <a:pt x="0" y="59703"/>
                    <a:pt x="0" y="133350"/>
                  </a:cubicBezTo>
                  <a:cubicBezTo>
                    <a:pt x="0" y="206998"/>
                    <a:pt x="59703" y="266700"/>
                    <a:pt x="133350" y="266700"/>
                  </a:cubicBezTo>
                  <a:close/>
                  <a:moveTo>
                    <a:pt x="211811" y="95130"/>
                  </a:moveTo>
                  <a:lnTo>
                    <a:pt x="188239" y="71557"/>
                  </a:lnTo>
                  <a:lnTo>
                    <a:pt x="108347" y="151449"/>
                  </a:lnTo>
                  <a:lnTo>
                    <a:pt x="78462" y="121563"/>
                  </a:lnTo>
                  <a:lnTo>
                    <a:pt x="54888" y="145137"/>
                  </a:lnTo>
                  <a:lnTo>
                    <a:pt x="108347" y="198595"/>
                  </a:lnTo>
                  <a:lnTo>
                    <a:pt x="211811" y="9513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65860" y="4318635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真实硬件证据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69670" y="4531995"/>
              <a:ext cx="13850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real bench + remote HIL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714625" y="4133850"/>
              <a:ext cx="1952625" cy="552450"/>
            </a:xfrm>
            <a:prstGeom prst="roundRect">
              <a:avLst>
                <a:gd name="adj" fmla="val 24138"/>
              </a:avLst>
            </a:prstGeom>
            <a:solidFill>
              <a:srgbClr val="F0FDF4"/>
            </a:solidFill>
            <a:ln w="9525">
              <a:solidFill>
                <a:srgbClr val="BBF7D0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940844" y="4276725"/>
              <a:ext cx="233362" cy="266700"/>
            </a:xfrm>
            <a:custGeom>
              <a:avLst/>
              <a:gdLst/>
              <a:ahLst/>
              <a:cxnLst/>
              <a:rect l="l" t="t" r="r" b="b"/>
              <a:pathLst>
                <a:path w="233362" h="266700">
                  <a:moveTo>
                    <a:pt x="116681" y="266700"/>
                  </a:moveTo>
                  <a:lnTo>
                    <a:pt x="55842" y="223243"/>
                  </a:lnTo>
                  <a:cubicBezTo>
                    <a:pt x="20798" y="198211"/>
                    <a:pt x="0" y="157798"/>
                    <a:pt x="0" y="114732"/>
                  </a:cubicBezTo>
                  <a:lnTo>
                    <a:pt x="0" y="50006"/>
                  </a:lnTo>
                  <a:lnTo>
                    <a:pt x="116681" y="0"/>
                  </a:lnTo>
                  <a:lnTo>
                    <a:pt x="233362" y="50006"/>
                  </a:lnTo>
                  <a:lnTo>
                    <a:pt x="233362" y="114732"/>
                  </a:lnTo>
                  <a:cubicBezTo>
                    <a:pt x="233362" y="157798"/>
                    <a:pt x="212565" y="198211"/>
                    <a:pt x="177521" y="223243"/>
                  </a:cubicBezTo>
                  <a:lnTo>
                    <a:pt x="116681" y="266700"/>
                  </a:lnTo>
                  <a:close/>
                  <a:moveTo>
                    <a:pt x="186808" y="95130"/>
                  </a:moveTo>
                  <a:lnTo>
                    <a:pt x="163235" y="71557"/>
                  </a:lnTo>
                  <a:lnTo>
                    <a:pt x="100012" y="134780"/>
                  </a:lnTo>
                  <a:lnTo>
                    <a:pt x="70127" y="104895"/>
                  </a:lnTo>
                  <a:lnTo>
                    <a:pt x="46554" y="128468"/>
                  </a:lnTo>
                  <a:lnTo>
                    <a:pt x="100012" y="181926"/>
                  </a:lnTo>
                  <a:lnTo>
                    <a:pt x="186808" y="95130"/>
                  </a:lnTo>
                  <a:close/>
                </a:path>
              </a:pathLst>
            </a:custGeom>
            <a:solidFill>
              <a:srgbClr val="0EA5E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08985" y="431863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人审边界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12795" y="4531995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智能助手在评审边界内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857750" y="4133850"/>
              <a:ext cx="1952625" cy="552450"/>
            </a:xfrm>
            <a:prstGeom prst="roundRect">
              <a:avLst>
                <a:gd name="adj" fmla="val 24138"/>
              </a:avLst>
            </a:prstGeom>
            <a:solidFill>
              <a:srgbClr val="FFF7ED"/>
            </a:solidFill>
            <a:ln w="9525">
              <a:solidFill>
                <a:srgbClr val="FED7AA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5067300" y="4276725"/>
              <a:ext cx="266700" cy="266700"/>
              <a:chOff x="5067300" y="4276725"/>
              <a:chExt cx="266700" cy="2667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5133975" y="434340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66675" y="0"/>
                    </a:moveTo>
                    <a:cubicBezTo>
                      <a:pt x="29851" y="0"/>
                      <a:pt x="0" y="29851"/>
                      <a:pt x="0" y="66675"/>
                    </a:cubicBezTo>
                    <a:cubicBezTo>
                      <a:pt x="0" y="103498"/>
                      <a:pt x="29851" y="133350"/>
                      <a:pt x="66675" y="133350"/>
                    </a:cubicBezTo>
                    <a:cubicBezTo>
                      <a:pt x="103498" y="133350"/>
                      <a:pt x="133350" y="103498"/>
                      <a:pt x="133350" y="66675"/>
                    </a:cubicBezTo>
                    <a:cubicBezTo>
                      <a:pt x="133350" y="29851"/>
                      <a:pt x="103498" y="0"/>
                      <a:pt x="66675" y="0"/>
                    </a:cubicBezTo>
                    <a:close/>
                    <a:moveTo>
                      <a:pt x="33338" y="66675"/>
                    </a:moveTo>
                    <a:cubicBezTo>
                      <a:pt x="33338" y="48263"/>
                      <a:pt x="48263" y="33338"/>
                      <a:pt x="66675" y="33338"/>
                    </a:cubicBezTo>
                    <a:cubicBezTo>
                      <a:pt x="85087" y="33338"/>
                      <a:pt x="100012" y="48263"/>
                      <a:pt x="100012" y="66675"/>
                    </a:cubicBezTo>
                    <a:cubicBezTo>
                      <a:pt x="100012" y="85087"/>
                      <a:pt x="85087" y="100012"/>
                      <a:pt x="66675" y="100012"/>
                    </a:cubicBezTo>
                    <a:cubicBezTo>
                      <a:pt x="48263" y="100012"/>
                      <a:pt x="33338" y="85087"/>
                      <a:pt x="33338" y="66675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067300" y="4276725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133350" y="0"/>
                    </a:moveTo>
                    <a:cubicBezTo>
                      <a:pt x="59703" y="0"/>
                      <a:pt x="0" y="59703"/>
                      <a:pt x="0" y="133350"/>
                    </a:cubicBezTo>
                    <a:cubicBezTo>
                      <a:pt x="0" y="206998"/>
                      <a:pt x="59703" y="266700"/>
                      <a:pt x="133350" y="266700"/>
                    </a:cubicBezTo>
                    <a:cubicBezTo>
                      <a:pt x="206998" y="266700"/>
                      <a:pt x="266700" y="206998"/>
                      <a:pt x="266700" y="133350"/>
                    </a:cubicBezTo>
                    <a:cubicBezTo>
                      <a:pt x="266700" y="59703"/>
                      <a:pt x="206998" y="0"/>
                      <a:pt x="133350" y="0"/>
                    </a:cubicBezTo>
                    <a:close/>
                    <a:moveTo>
                      <a:pt x="33338" y="133350"/>
                    </a:moveTo>
                    <a:cubicBezTo>
                      <a:pt x="33338" y="78115"/>
                      <a:pt x="78115" y="33338"/>
                      <a:pt x="133350" y="33338"/>
                    </a:cubicBezTo>
                    <a:cubicBezTo>
                      <a:pt x="188585" y="33338"/>
                      <a:pt x="233362" y="78115"/>
                      <a:pt x="233362" y="133350"/>
                    </a:cubicBezTo>
                    <a:cubicBezTo>
                      <a:pt x="233362" y="188585"/>
                      <a:pt x="188585" y="233362"/>
                      <a:pt x="133350" y="233362"/>
                    </a:cubicBezTo>
                    <a:cubicBezTo>
                      <a:pt x="78115" y="233362"/>
                      <a:pt x="33338" y="188585"/>
                      <a:pt x="33338" y="133350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5452110" y="4318635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可接入模板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55920" y="453199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适配配置驱动流程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20065" y="6211252"/>
            <a:ext cx="11064811" cy="213360"/>
            <a:chOff x="520065" y="6211252"/>
            <a:chExt cx="11064811" cy="213360"/>
          </a:xfrm>
        </p:grpSpPr>
        <p:sp>
          <p:nvSpPr>
            <p:cNvPr id="33" name="TextBox 33"/>
            <p:cNvSpPr txBox="1"/>
            <p:nvPr/>
          </p:nvSpPr>
          <p:spPr>
            <a:xfrm>
              <a:off x="520065" y="6211252"/>
              <a:ext cx="43532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Sailiono/liakia-ai-embedded-workflow · GitHub 展示项目继续完善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89970" y="622744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01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3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347862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为什么要做 Liakia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43548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嵌入式交付经常卡在证据链断裂，而不是某一行代码。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33400" y="1752600"/>
            <a:ext cx="3905250" cy="3771900"/>
            <a:chOff x="533400" y="1752600"/>
            <a:chExt cx="3905250" cy="3771900"/>
          </a:xfrm>
        </p:grpSpPr>
        <p:sp>
          <p:nvSpPr>
            <p:cNvPr id="8" name="Rectangle 8"/>
            <p:cNvSpPr/>
            <p:nvPr/>
          </p:nvSpPr>
          <p:spPr>
            <a:xfrm>
              <a:off x="533400" y="1752600"/>
              <a:ext cx="3905250" cy="3771900"/>
            </a:xfrm>
            <a:prstGeom prst="roundRect">
              <a:avLst>
                <a:gd name="adj" fmla="val 4545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4390" y="1986915"/>
              <a:ext cx="2902372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从“应该好了”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4390" y="2520315"/>
              <a:ext cx="336443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6A34A"/>
                  </a:solidFill>
                  <a:latin typeface="Arial"/>
                  <a:ea typeface="Microsoft YaHei"/>
                  <a:cs typeface="Arial"/>
                </a:rPr>
                <a:t>变成“证据可查”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76300" y="3257550"/>
              <a:ext cx="2362200" cy="9525"/>
            </a:xfrm>
            <a:custGeom>
              <a:avLst/>
              <a:gdLst/>
              <a:ahLst/>
              <a:cxnLst/>
              <a:rect l="l" t="t" r="r" b="b"/>
              <a:pathLst>
                <a:path w="2362200" h="9525">
                  <a:moveTo>
                    <a:pt x="0" y="0"/>
                  </a:moveTo>
                  <a:lnTo>
                    <a:pt x="2362200" y="0"/>
                  </a:lnTo>
                </a:path>
              </a:pathLst>
            </a:custGeom>
            <a:noFill/>
            <a:ln w="57150">
              <a:solidFill>
                <a:srgbClr val="0EA5E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1060" y="3604260"/>
              <a:ext cx="22867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Liakia 的价值不是替代工程师，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1060" y="3928110"/>
              <a:ext cx="2430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而是把每一次构建、烧录、测试、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1060" y="425196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诊断和交接都留下可复查材料。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1060" y="49758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证据胜过记忆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857750" y="1752600"/>
            <a:ext cx="6800850" cy="3752850"/>
            <a:chOff x="4857750" y="1752600"/>
            <a:chExt cx="6800850" cy="3752850"/>
          </a:xfrm>
        </p:grpSpPr>
        <p:sp>
          <p:nvSpPr>
            <p:cNvPr id="17" name="Rectangle 17"/>
            <p:cNvSpPr/>
            <p:nvPr/>
          </p:nvSpPr>
          <p:spPr>
            <a:xfrm>
              <a:off x="4857750" y="1752600"/>
              <a:ext cx="6800850" cy="781050"/>
            </a:xfrm>
            <a:prstGeom prst="roundRect">
              <a:avLst>
                <a:gd name="adj" fmla="val 17073"/>
              </a:avLst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5124450" y="1991916"/>
              <a:ext cx="323850" cy="283368"/>
              <a:chOff x="5124450" y="1991916"/>
              <a:chExt cx="323850" cy="28336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5124450" y="1991916"/>
                <a:ext cx="32385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161925">
                    <a:moveTo>
                      <a:pt x="80962" y="0"/>
                    </a:moveTo>
                    <a:lnTo>
                      <a:pt x="242888" y="0"/>
                    </a:lnTo>
                    <a:lnTo>
                      <a:pt x="242888" y="80962"/>
                    </a:lnTo>
                    <a:lnTo>
                      <a:pt x="273248" y="80962"/>
                    </a:lnTo>
                    <a:lnTo>
                      <a:pt x="323850" y="131564"/>
                    </a:lnTo>
                    <a:lnTo>
                      <a:pt x="323850" y="161925"/>
                    </a:lnTo>
                    <a:lnTo>
                      <a:pt x="0" y="161925"/>
                    </a:lnTo>
                    <a:lnTo>
                      <a:pt x="0" y="131564"/>
                    </a:lnTo>
                    <a:lnTo>
                      <a:pt x="50602" y="80962"/>
                    </a:lnTo>
                    <a:lnTo>
                      <a:pt x="80962" y="80962"/>
                    </a:lnTo>
                    <a:lnTo>
                      <a:pt x="80962" y="0"/>
                    </a:lnTo>
                    <a:close/>
                    <a:moveTo>
                      <a:pt x="202406" y="40481"/>
                    </a:moveTo>
                    <a:lnTo>
                      <a:pt x="202406" y="80962"/>
                    </a:lnTo>
                    <a:lnTo>
                      <a:pt x="121444" y="80962"/>
                    </a:lnTo>
                    <a:lnTo>
                      <a:pt x="121444" y="40481"/>
                    </a:lnTo>
                    <a:lnTo>
                      <a:pt x="202406" y="40481"/>
                    </a:lnTo>
                    <a:close/>
                  </a:path>
                </a:pathLst>
              </a:custGeom>
              <a:solidFill>
                <a:srgbClr val="0EA5E9"/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124450" y="2194322"/>
                <a:ext cx="323850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80962">
                    <a:moveTo>
                      <a:pt x="0" y="0"/>
                    </a:moveTo>
                    <a:lnTo>
                      <a:pt x="0" y="80962"/>
                    </a:lnTo>
                    <a:lnTo>
                      <a:pt x="323850" y="80962"/>
                    </a:lnTo>
                    <a:lnTo>
                      <a:pt x="323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EA5E9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5641658" y="19388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手工链路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42610" y="2232660"/>
              <a:ext cx="37109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编译、烧录、串口验证依赖个人操作，复现成本高。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857750" y="2743200"/>
              <a:ext cx="6800850" cy="781050"/>
            </a:xfrm>
            <a:prstGeom prst="roundRect">
              <a:avLst>
                <a:gd name="adj" fmla="val 17073"/>
              </a:avLst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5144691" y="2962275"/>
              <a:ext cx="283368" cy="323851"/>
              <a:chOff x="5144691" y="2962275"/>
              <a:chExt cx="283368" cy="32385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5225653" y="2962275"/>
                <a:ext cx="202406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242888">
                    <a:moveTo>
                      <a:pt x="121444" y="0"/>
                    </a:moveTo>
                    <a:lnTo>
                      <a:pt x="0" y="0"/>
                    </a:lnTo>
                    <a:lnTo>
                      <a:pt x="0" y="242888"/>
                    </a:lnTo>
                    <a:lnTo>
                      <a:pt x="202406" y="242888"/>
                    </a:lnTo>
                    <a:lnTo>
                      <a:pt x="202406" y="80962"/>
                    </a:lnTo>
                    <a:lnTo>
                      <a:pt x="121444" y="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144691" y="3043238"/>
                <a:ext cx="202406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242888">
                    <a:moveTo>
                      <a:pt x="0" y="0"/>
                    </a:moveTo>
                    <a:lnTo>
                      <a:pt x="0" y="242888"/>
                    </a:lnTo>
                    <a:lnTo>
                      <a:pt x="202406" y="242888"/>
                    </a:lnTo>
                    <a:lnTo>
                      <a:pt x="202406" y="202406"/>
                    </a:lnTo>
                    <a:lnTo>
                      <a:pt x="40481" y="202406"/>
                    </a:lnTo>
                    <a:lnTo>
                      <a:pt x="4048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5641658" y="29294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证据散落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42610" y="3223260"/>
              <a:ext cx="38709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现象在聊天记录、终端截图和记忆里，后来难以审查。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857750" y="3733800"/>
              <a:ext cx="6800850" cy="781050"/>
            </a:xfrm>
            <a:prstGeom prst="roundRect">
              <a:avLst>
                <a:gd name="adj" fmla="val 17073"/>
              </a:avLst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124450" y="3952875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925" y="323850"/>
                  </a:moveTo>
                  <a:cubicBezTo>
                    <a:pt x="251354" y="323850"/>
                    <a:pt x="323850" y="251354"/>
                    <a:pt x="323850" y="161925"/>
                  </a:cubicBezTo>
                  <a:cubicBezTo>
                    <a:pt x="323850" y="72496"/>
                    <a:pt x="251354" y="0"/>
                    <a:pt x="161925" y="0"/>
                  </a:cubicBezTo>
                  <a:cubicBezTo>
                    <a:pt x="72496" y="0"/>
                    <a:pt x="0" y="72496"/>
                    <a:pt x="0" y="161925"/>
                  </a:cubicBezTo>
                  <a:cubicBezTo>
                    <a:pt x="0" y="251354"/>
                    <a:pt x="72496" y="323850"/>
                    <a:pt x="161925" y="323850"/>
                  </a:cubicBezTo>
                  <a:close/>
                  <a:moveTo>
                    <a:pt x="257200" y="115515"/>
                  </a:moveTo>
                  <a:lnTo>
                    <a:pt x="228575" y="86891"/>
                  </a:lnTo>
                  <a:lnTo>
                    <a:pt x="131564" y="183902"/>
                  </a:lnTo>
                  <a:lnTo>
                    <a:pt x="95275" y="147613"/>
                  </a:lnTo>
                  <a:lnTo>
                    <a:pt x="66650" y="176237"/>
                  </a:lnTo>
                  <a:lnTo>
                    <a:pt x="131564" y="241151"/>
                  </a:lnTo>
                  <a:lnTo>
                    <a:pt x="257200" y="115515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41658" y="39200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回归缺失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42610" y="4213860"/>
              <a:ext cx="40309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修复没有沉淀成下一次必跑关卡，同类问题会再次出现。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857750" y="4724400"/>
              <a:ext cx="6800850" cy="781050"/>
            </a:xfrm>
            <a:prstGeom prst="roundRect">
              <a:avLst>
                <a:gd name="adj" fmla="val 17073"/>
              </a:avLst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5124450" y="4983956"/>
              <a:ext cx="323850" cy="242888"/>
            </a:xfrm>
            <a:custGeom>
              <a:avLst/>
              <a:gdLst/>
              <a:ahLst/>
              <a:cxnLst/>
              <a:rect l="l" t="t" r="r" b="b"/>
              <a:pathLst>
                <a:path w="323850" h="242888">
                  <a:moveTo>
                    <a:pt x="161925" y="0"/>
                  </a:moveTo>
                  <a:cubicBezTo>
                    <a:pt x="206639" y="0"/>
                    <a:pt x="242888" y="36248"/>
                    <a:pt x="242888" y="80962"/>
                  </a:cubicBezTo>
                  <a:lnTo>
                    <a:pt x="242888" y="101203"/>
                  </a:lnTo>
                  <a:cubicBezTo>
                    <a:pt x="287601" y="101203"/>
                    <a:pt x="323850" y="137451"/>
                    <a:pt x="323850" y="182166"/>
                  </a:cubicBezTo>
                  <a:lnTo>
                    <a:pt x="323850" y="242888"/>
                  </a:lnTo>
                  <a:lnTo>
                    <a:pt x="182166" y="242888"/>
                  </a:lnTo>
                  <a:lnTo>
                    <a:pt x="222647" y="202406"/>
                  </a:lnTo>
                  <a:lnTo>
                    <a:pt x="222647" y="182166"/>
                  </a:lnTo>
                  <a:lnTo>
                    <a:pt x="182166" y="182166"/>
                  </a:lnTo>
                  <a:lnTo>
                    <a:pt x="182166" y="121444"/>
                  </a:lnTo>
                  <a:lnTo>
                    <a:pt x="141684" y="121444"/>
                  </a:lnTo>
                  <a:lnTo>
                    <a:pt x="141684" y="182166"/>
                  </a:lnTo>
                  <a:lnTo>
                    <a:pt x="101203" y="182166"/>
                  </a:lnTo>
                  <a:lnTo>
                    <a:pt x="101203" y="202406"/>
                  </a:lnTo>
                  <a:lnTo>
                    <a:pt x="141684" y="242888"/>
                  </a:lnTo>
                  <a:lnTo>
                    <a:pt x="0" y="242888"/>
                  </a:lnTo>
                  <a:lnTo>
                    <a:pt x="0" y="161925"/>
                  </a:lnTo>
                  <a:cubicBezTo>
                    <a:pt x="0" y="117211"/>
                    <a:pt x="36248" y="80962"/>
                    <a:pt x="80962" y="80962"/>
                  </a:cubicBezTo>
                  <a:cubicBezTo>
                    <a:pt x="80962" y="36248"/>
                    <a:pt x="117211" y="0"/>
                    <a:pt x="161925" y="0"/>
                  </a:cubicBezTo>
                  <a:close/>
                </a:path>
              </a:pathLst>
            </a:custGeom>
            <a:solidFill>
              <a:srgbClr val="0EA5E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41658" y="4910614"/>
              <a:ext cx="128204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远程测试难复查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42610" y="5204460"/>
              <a:ext cx="37109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硬件在另一台机器旁边，结果需要可回传、可复核。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38" name="TextBox 38"/>
            <p:cNvSpPr txBox="1"/>
            <p:nvPr/>
          </p:nvSpPr>
          <p:spPr>
            <a:xfrm>
              <a:off x="521970" y="6246495"/>
              <a:ext cx="36053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Source: repository README.zh-CN.md and PR source summary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02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473878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Liakia 要解决的核心问题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41748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把构建、烧录、测试、诊断、证据、交接串成闭环。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685800" y="2324100"/>
            <a:ext cx="10820400" cy="1609725"/>
            <a:chOff x="685800" y="2324100"/>
            <a:chExt cx="10820400" cy="1609725"/>
          </a:xfrm>
        </p:grpSpPr>
        <p:sp>
          <p:nvSpPr>
            <p:cNvPr id="8" name="Rectangle 8"/>
            <p:cNvSpPr/>
            <p:nvPr/>
          </p:nvSpPr>
          <p:spPr>
            <a:xfrm>
              <a:off x="685800" y="2324100"/>
              <a:ext cx="10820400" cy="1428750"/>
            </a:xfrm>
            <a:prstGeom prst="roundRect">
              <a:avLst>
                <a:gd name="adj" fmla="val 5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1638300" y="3038475"/>
              <a:ext cx="8724900" cy="1"/>
            </a:xfrm>
            <a:prstGeom prst="line">
              <a:avLst/>
            </a:prstGeom>
            <a:noFill/>
            <a:ln w="47625">
              <a:solidFill>
                <a:srgbClr val="0EA5E9"/>
              </a:solidFill>
              <a:tailEnd type="triangle" w="lg" len="lg"/>
            </a:ln>
          </p:spPr>
        </p:sp>
        <p:sp>
          <p:nvSpPr>
            <p:cNvPr id="10" name="Ellipse 10"/>
            <p:cNvSpPr/>
            <p:nvPr/>
          </p:nvSpPr>
          <p:spPr>
            <a:xfrm>
              <a:off x="1162050" y="2562225"/>
              <a:ext cx="952500" cy="952500"/>
            </a:xfrm>
            <a:prstGeom prst="ellipse">
              <a:avLst/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438275" y="2838450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400050" y="0"/>
                  </a:moveTo>
                  <a:lnTo>
                    <a:pt x="0" y="0"/>
                  </a:lnTo>
                  <a:lnTo>
                    <a:pt x="0" y="400050"/>
                  </a:lnTo>
                  <a:lnTo>
                    <a:pt x="400050" y="400050"/>
                  </a:lnTo>
                  <a:lnTo>
                    <a:pt x="400050" y="0"/>
                  </a:lnTo>
                  <a:close/>
                  <a:moveTo>
                    <a:pt x="142875" y="114300"/>
                  </a:moveTo>
                  <a:lnTo>
                    <a:pt x="183286" y="154711"/>
                  </a:lnTo>
                  <a:lnTo>
                    <a:pt x="137972" y="200025"/>
                  </a:lnTo>
                  <a:lnTo>
                    <a:pt x="183286" y="245339"/>
                  </a:lnTo>
                  <a:lnTo>
                    <a:pt x="142875" y="285750"/>
                  </a:lnTo>
                  <a:lnTo>
                    <a:pt x="57150" y="200025"/>
                  </a:lnTo>
                  <a:lnTo>
                    <a:pt x="142875" y="114300"/>
                  </a:lnTo>
                  <a:close/>
                  <a:moveTo>
                    <a:pt x="257175" y="114300"/>
                  </a:moveTo>
                  <a:lnTo>
                    <a:pt x="216764" y="154711"/>
                  </a:lnTo>
                  <a:lnTo>
                    <a:pt x="262078" y="200025"/>
                  </a:lnTo>
                  <a:lnTo>
                    <a:pt x="216764" y="245339"/>
                  </a:lnTo>
                  <a:lnTo>
                    <a:pt x="257175" y="285750"/>
                  </a:lnTo>
                  <a:lnTo>
                    <a:pt x="342900" y="200025"/>
                  </a:lnTo>
                  <a:lnTo>
                    <a:pt x="257175" y="114300"/>
                  </a:lnTo>
                  <a:close/>
                </a:path>
              </a:pathLst>
            </a:custGeom>
            <a:solidFill>
              <a:srgbClr val="0B1F2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47038" y="3689985"/>
              <a:ext cx="3825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6232C"/>
                  </a:solidFill>
                  <a:latin typeface="Consolas"/>
                  <a:ea typeface="Microsoft YaHei"/>
                  <a:cs typeface="Consolas"/>
                </a:rPr>
                <a:t>code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2667000" y="2562225"/>
              <a:ext cx="952500" cy="952500"/>
            </a:xfrm>
            <a:prstGeom prst="ellipse">
              <a:avLst/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2914650" y="2838450"/>
              <a:ext cx="457200" cy="400050"/>
              <a:chOff x="2914650" y="2838450"/>
              <a:chExt cx="457200" cy="40005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2914650" y="2838450"/>
                <a:ext cx="4572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228600">
                    <a:moveTo>
                      <a:pt x="114300" y="0"/>
                    </a:moveTo>
                    <a:lnTo>
                      <a:pt x="342900" y="0"/>
                    </a:lnTo>
                    <a:lnTo>
                      <a:pt x="342900" y="114300"/>
                    </a:lnTo>
                    <a:lnTo>
                      <a:pt x="385762" y="114300"/>
                    </a:lnTo>
                    <a:lnTo>
                      <a:pt x="457200" y="185738"/>
                    </a:lnTo>
                    <a:lnTo>
                      <a:pt x="457200" y="228600"/>
                    </a:lnTo>
                    <a:lnTo>
                      <a:pt x="0" y="228600"/>
                    </a:lnTo>
                    <a:lnTo>
                      <a:pt x="0" y="185738"/>
                    </a:lnTo>
                    <a:lnTo>
                      <a:pt x="71438" y="114300"/>
                    </a:lnTo>
                    <a:lnTo>
                      <a:pt x="114300" y="114300"/>
                    </a:lnTo>
                    <a:lnTo>
                      <a:pt x="114300" y="0"/>
                    </a:lnTo>
                    <a:close/>
                    <a:moveTo>
                      <a:pt x="285750" y="57150"/>
                    </a:moveTo>
                    <a:lnTo>
                      <a:pt x="285750" y="114300"/>
                    </a:lnTo>
                    <a:lnTo>
                      <a:pt x="171450" y="114300"/>
                    </a:lnTo>
                    <a:lnTo>
                      <a:pt x="171450" y="57150"/>
                    </a:lnTo>
                    <a:lnTo>
                      <a:pt x="285750" y="57150"/>
                    </a:lnTo>
                    <a:close/>
                  </a:path>
                </a:pathLst>
              </a:custGeom>
              <a:solidFill>
                <a:srgbClr val="0EA5E9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914650" y="3124200"/>
                <a:ext cx="457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114300">
                    <a:moveTo>
                      <a:pt x="0" y="0"/>
                    </a:moveTo>
                    <a:lnTo>
                      <a:pt x="0" y="114300"/>
                    </a:lnTo>
                    <a:lnTo>
                      <a:pt x="457200" y="114300"/>
                    </a:lnTo>
                    <a:lnTo>
                      <a:pt x="4572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EA5E9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2967990" y="3689985"/>
              <a:ext cx="350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构建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4171950" y="2562225"/>
              <a:ext cx="952500" cy="952500"/>
            </a:xfrm>
            <a:prstGeom prst="ellipse">
              <a:avLst/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476750" y="2809875"/>
              <a:ext cx="342900" cy="457200"/>
            </a:xfrm>
            <a:custGeom>
              <a:avLst/>
              <a:gdLst/>
              <a:ahLst/>
              <a:cxnLst/>
              <a:rect l="l" t="t" r="r" b="b"/>
              <a:pathLst>
                <a:path w="342900" h="457200">
                  <a:moveTo>
                    <a:pt x="200025" y="200025"/>
                  </a:moveTo>
                  <a:lnTo>
                    <a:pt x="228600" y="0"/>
                  </a:lnTo>
                  <a:lnTo>
                    <a:pt x="171450" y="0"/>
                  </a:lnTo>
                  <a:lnTo>
                    <a:pt x="0" y="200025"/>
                  </a:lnTo>
                  <a:lnTo>
                    <a:pt x="0" y="257175"/>
                  </a:lnTo>
                  <a:lnTo>
                    <a:pt x="142875" y="257175"/>
                  </a:lnTo>
                  <a:lnTo>
                    <a:pt x="114300" y="457200"/>
                  </a:lnTo>
                  <a:lnTo>
                    <a:pt x="171450" y="457200"/>
                  </a:lnTo>
                  <a:lnTo>
                    <a:pt x="342900" y="257175"/>
                  </a:lnTo>
                  <a:lnTo>
                    <a:pt x="342900" y="200025"/>
                  </a:lnTo>
                  <a:lnTo>
                    <a:pt x="200025" y="200025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72940" y="3689985"/>
              <a:ext cx="350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烧录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676900" y="2562225"/>
              <a:ext cx="952500" cy="952500"/>
            </a:xfrm>
            <a:prstGeom prst="ellipse">
              <a:avLst/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924550" y="28098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cubicBezTo>
                    <a:pt x="354853" y="457200"/>
                    <a:pt x="457200" y="354853"/>
                    <a:pt x="457200" y="228600"/>
                  </a:cubicBezTo>
                  <a:cubicBezTo>
                    <a:pt x="457200" y="102348"/>
                    <a:pt x="354853" y="0"/>
                    <a:pt x="228600" y="0"/>
                  </a:cubicBezTo>
                  <a:cubicBezTo>
                    <a:pt x="102348" y="0"/>
                    <a:pt x="0" y="102348"/>
                    <a:pt x="0" y="228600"/>
                  </a:cubicBezTo>
                  <a:cubicBezTo>
                    <a:pt x="0" y="354853"/>
                    <a:pt x="102348" y="457200"/>
                    <a:pt x="228600" y="457200"/>
                  </a:cubicBezTo>
                  <a:close/>
                  <a:moveTo>
                    <a:pt x="363105" y="163081"/>
                  </a:moveTo>
                  <a:lnTo>
                    <a:pt x="322695" y="122669"/>
                  </a:lnTo>
                  <a:lnTo>
                    <a:pt x="185738" y="259626"/>
                  </a:lnTo>
                  <a:lnTo>
                    <a:pt x="134506" y="208394"/>
                  </a:lnTo>
                  <a:lnTo>
                    <a:pt x="94094" y="248806"/>
                  </a:lnTo>
                  <a:lnTo>
                    <a:pt x="185738" y="340448"/>
                  </a:lnTo>
                  <a:lnTo>
                    <a:pt x="363105" y="163081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77890" y="3689985"/>
              <a:ext cx="350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测试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181850" y="2562225"/>
              <a:ext cx="952500" cy="952500"/>
            </a:xfrm>
            <a:prstGeom prst="ellipse">
              <a:avLst/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458075" y="2809875"/>
              <a:ext cx="400050" cy="457200"/>
            </a:xfrm>
            <a:custGeom>
              <a:avLst/>
              <a:gdLst/>
              <a:ahLst/>
              <a:cxnLst/>
              <a:rect l="l" t="t" r="r" b="b"/>
              <a:pathLst>
                <a:path w="400050" h="457200">
                  <a:moveTo>
                    <a:pt x="200025" y="457200"/>
                  </a:moveTo>
                  <a:lnTo>
                    <a:pt x="95729" y="382702"/>
                  </a:lnTo>
                  <a:cubicBezTo>
                    <a:pt x="35654" y="339791"/>
                    <a:pt x="0" y="270510"/>
                    <a:pt x="0" y="196683"/>
                  </a:cubicBezTo>
                  <a:lnTo>
                    <a:pt x="0" y="85725"/>
                  </a:lnTo>
                  <a:lnTo>
                    <a:pt x="200025" y="0"/>
                  </a:lnTo>
                  <a:lnTo>
                    <a:pt x="400050" y="85725"/>
                  </a:lnTo>
                  <a:lnTo>
                    <a:pt x="400050" y="196683"/>
                  </a:lnTo>
                  <a:cubicBezTo>
                    <a:pt x="400050" y="270510"/>
                    <a:pt x="364397" y="339791"/>
                    <a:pt x="304321" y="382702"/>
                  </a:cubicBezTo>
                  <a:lnTo>
                    <a:pt x="200025" y="457200"/>
                  </a:lnTo>
                  <a:close/>
                  <a:moveTo>
                    <a:pt x="320243" y="163081"/>
                  </a:moveTo>
                  <a:lnTo>
                    <a:pt x="279832" y="122669"/>
                  </a:lnTo>
                  <a:lnTo>
                    <a:pt x="171450" y="231051"/>
                  </a:lnTo>
                  <a:lnTo>
                    <a:pt x="120218" y="179819"/>
                  </a:lnTo>
                  <a:lnTo>
                    <a:pt x="79807" y="220231"/>
                  </a:lnTo>
                  <a:lnTo>
                    <a:pt x="171450" y="311873"/>
                  </a:lnTo>
                  <a:lnTo>
                    <a:pt x="320243" y="163081"/>
                  </a:lnTo>
                  <a:close/>
                </a:path>
              </a:pathLst>
            </a:custGeom>
            <a:solidFill>
              <a:srgbClr val="0EA5E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82840" y="3689985"/>
              <a:ext cx="350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诊断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8686800" y="2562225"/>
              <a:ext cx="952500" cy="952500"/>
            </a:xfrm>
            <a:prstGeom prst="ellipse">
              <a:avLst/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8963025" y="2809875"/>
              <a:ext cx="400050" cy="457200"/>
              <a:chOff x="8963025" y="2809875"/>
              <a:chExt cx="400050" cy="4572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9077325" y="2809875"/>
                <a:ext cx="2857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342900">
                    <a:moveTo>
                      <a:pt x="171450" y="0"/>
                    </a:moveTo>
                    <a:lnTo>
                      <a:pt x="0" y="0"/>
                    </a:lnTo>
                    <a:lnTo>
                      <a:pt x="0" y="342900"/>
                    </a:lnTo>
                    <a:lnTo>
                      <a:pt x="285750" y="342900"/>
                    </a:lnTo>
                    <a:lnTo>
                      <a:pt x="285750" y="114300"/>
                    </a:lnTo>
                    <a:lnTo>
                      <a:pt x="171450" y="0"/>
                    </a:lnTo>
                    <a:close/>
                  </a:path>
                </a:pathLst>
              </a:custGeom>
              <a:solidFill>
                <a:srgbClr val="16A34A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963025" y="2924175"/>
                <a:ext cx="2857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342900">
                    <a:moveTo>
                      <a:pt x="0" y="0"/>
                    </a:moveTo>
                    <a:lnTo>
                      <a:pt x="0" y="342900"/>
                    </a:lnTo>
                    <a:lnTo>
                      <a:pt x="285750" y="342900"/>
                    </a:lnTo>
                    <a:lnTo>
                      <a:pt x="285750" y="285750"/>
                    </a:lnTo>
                    <a:lnTo>
                      <a:pt x="57150" y="285750"/>
                    </a:lnTo>
                    <a:lnTo>
                      <a:pt x="571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A34A"/>
              </a:solidFill>
              <a:ln>
                <a:noFill/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8987790" y="3689985"/>
              <a:ext cx="350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证据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10191750" y="2562225"/>
              <a:ext cx="952500" cy="952500"/>
            </a:xfrm>
            <a:prstGeom prst="ellipse">
              <a:avLst/>
            </a:prstGeom>
            <a:solidFill>
              <a:srgbClr val="0B1F2A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0439400" y="2809875"/>
              <a:ext cx="457200" cy="457200"/>
              <a:chOff x="10439400" y="2809875"/>
              <a:chExt cx="457200" cy="4572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0553700" y="2924175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114300" y="0"/>
                    </a:moveTo>
                    <a:cubicBezTo>
                      <a:pt x="51174" y="0"/>
                      <a:pt x="0" y="51174"/>
                      <a:pt x="0" y="114300"/>
                    </a:cubicBezTo>
                    <a:cubicBezTo>
                      <a:pt x="0" y="177425"/>
                      <a:pt x="51174" y="228600"/>
                      <a:pt x="114300" y="228600"/>
                    </a:cubicBezTo>
                    <a:cubicBezTo>
                      <a:pt x="177425" y="228600"/>
                      <a:pt x="228600" y="177425"/>
                      <a:pt x="228600" y="114300"/>
                    </a:cubicBezTo>
                    <a:cubicBezTo>
                      <a:pt x="228600" y="51174"/>
                      <a:pt x="177425" y="0"/>
                      <a:pt x="114300" y="0"/>
                    </a:cubicBezTo>
                    <a:close/>
                    <a:moveTo>
                      <a:pt x="57150" y="114300"/>
                    </a:moveTo>
                    <a:cubicBezTo>
                      <a:pt x="57150" y="82737"/>
                      <a:pt x="82737" y="57150"/>
                      <a:pt x="114300" y="57150"/>
                    </a:cubicBezTo>
                    <a:cubicBezTo>
                      <a:pt x="145863" y="57150"/>
                      <a:pt x="171450" y="82737"/>
                      <a:pt x="171450" y="114300"/>
                    </a:cubicBezTo>
                    <a:cubicBezTo>
                      <a:pt x="171450" y="145863"/>
                      <a:pt x="145863" y="171450"/>
                      <a:pt x="114300" y="171450"/>
                    </a:cubicBezTo>
                    <a:cubicBezTo>
                      <a:pt x="82737" y="171450"/>
                      <a:pt x="57150" y="145863"/>
                      <a:pt x="57150" y="11430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439400" y="2809875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228600" y="0"/>
                    </a:moveTo>
                    <a:cubicBezTo>
                      <a:pt x="102348" y="0"/>
                      <a:pt x="0" y="102348"/>
                      <a:pt x="0" y="228600"/>
                    </a:cubicBezTo>
                    <a:cubicBezTo>
                      <a:pt x="0" y="354853"/>
                      <a:pt x="102348" y="457200"/>
                      <a:pt x="228600" y="457200"/>
                    </a:cubicBezTo>
                    <a:cubicBezTo>
                      <a:pt x="354853" y="457200"/>
                      <a:pt x="457200" y="354853"/>
                      <a:pt x="457200" y="228600"/>
                    </a:cubicBezTo>
                    <a:cubicBezTo>
                      <a:pt x="457200" y="102348"/>
                      <a:pt x="354853" y="0"/>
                      <a:pt x="228600" y="0"/>
                    </a:cubicBezTo>
                    <a:close/>
                    <a:moveTo>
                      <a:pt x="57150" y="228600"/>
                    </a:moveTo>
                    <a:cubicBezTo>
                      <a:pt x="57150" y="133911"/>
                      <a:pt x="133911" y="57150"/>
                      <a:pt x="228600" y="57150"/>
                    </a:cubicBezTo>
                    <a:cubicBezTo>
                      <a:pt x="323289" y="57150"/>
                      <a:pt x="400050" y="133911"/>
                      <a:pt x="400050" y="228600"/>
                    </a:cubicBezTo>
                    <a:cubicBezTo>
                      <a:pt x="400050" y="323289"/>
                      <a:pt x="323289" y="400050"/>
                      <a:pt x="228600" y="400050"/>
                    </a:cubicBezTo>
                    <a:cubicBezTo>
                      <a:pt x="133911" y="400050"/>
                      <a:pt x="57150" y="323289"/>
                      <a:pt x="57150" y="22860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92740" y="3689985"/>
              <a:ext cx="350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交接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15390" y="4463415"/>
            <a:ext cx="7938802" cy="889635"/>
            <a:chOff x="1215390" y="4463415"/>
            <a:chExt cx="7938802" cy="889635"/>
          </a:xfrm>
        </p:grpSpPr>
        <p:sp>
          <p:nvSpPr>
            <p:cNvPr id="38" name="TextBox 38"/>
            <p:cNvSpPr txBox="1"/>
            <p:nvPr/>
          </p:nvSpPr>
          <p:spPr>
            <a:xfrm>
              <a:off x="1215390" y="4463415"/>
              <a:ext cx="7938802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每次失败都沉淀成下一次的检查关卡。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61110" y="5109210"/>
              <a:ext cx="71353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这就是 Liakia 区分于普通脚本集合的地方：它把可执行流程、证据包和人审边界放在同一条链路上。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41" name="TextBox 41"/>
            <p:cNvSpPr txBox="1"/>
            <p:nvPr/>
          </p:nvSpPr>
          <p:spPr>
            <a:xfrm>
              <a:off x="521970" y="6246495"/>
              <a:ext cx="26871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Source: README.zh-CN.md workflow summary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03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427672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仓库如何承载这条链路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41748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每个目录都服务一个环节，让项目不只是展示页面。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33400" y="1752600"/>
            <a:ext cx="2552700" cy="2381250"/>
            <a:chOff x="533400" y="1752600"/>
            <a:chExt cx="2552700" cy="2381250"/>
          </a:xfrm>
        </p:grpSpPr>
        <p:sp>
          <p:nvSpPr>
            <p:cNvPr id="8" name="Rectangle 8"/>
            <p:cNvSpPr/>
            <p:nvPr/>
          </p:nvSpPr>
          <p:spPr>
            <a:xfrm>
              <a:off x="533400" y="1752600"/>
              <a:ext cx="2552700" cy="2381250"/>
            </a:xfrm>
            <a:prstGeom prst="roundRect">
              <a:avLst>
                <a:gd name="adj" fmla="val 6400"/>
              </a:avLst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752600"/>
              <a:ext cx="2552700" cy="95250"/>
            </a:xfrm>
            <a:prstGeom prst="roundRect">
              <a:avLst>
                <a:gd name="adj" fmla="val 50000"/>
              </a:avLst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806053" y="2120503"/>
              <a:ext cx="350044" cy="350044"/>
            </a:xfrm>
            <a:custGeom>
              <a:avLst/>
              <a:gdLst/>
              <a:ahLst/>
              <a:cxnLst/>
              <a:rect l="l" t="t" r="r" b="b"/>
              <a:pathLst>
                <a:path w="350044" h="350044">
                  <a:moveTo>
                    <a:pt x="350044" y="0"/>
                  </a:moveTo>
                  <a:lnTo>
                    <a:pt x="0" y="0"/>
                  </a:lnTo>
                  <a:lnTo>
                    <a:pt x="0" y="350044"/>
                  </a:lnTo>
                  <a:lnTo>
                    <a:pt x="350044" y="350044"/>
                  </a:lnTo>
                  <a:lnTo>
                    <a:pt x="350044" y="0"/>
                  </a:lnTo>
                  <a:close/>
                  <a:moveTo>
                    <a:pt x="125016" y="100012"/>
                  </a:moveTo>
                  <a:lnTo>
                    <a:pt x="160375" y="135372"/>
                  </a:lnTo>
                  <a:lnTo>
                    <a:pt x="120726" y="175022"/>
                  </a:lnTo>
                  <a:lnTo>
                    <a:pt x="160375" y="214672"/>
                  </a:lnTo>
                  <a:lnTo>
                    <a:pt x="125016" y="250031"/>
                  </a:lnTo>
                  <a:lnTo>
                    <a:pt x="50006" y="175022"/>
                  </a:lnTo>
                  <a:lnTo>
                    <a:pt x="125016" y="100012"/>
                  </a:lnTo>
                  <a:close/>
                  <a:moveTo>
                    <a:pt x="225028" y="100012"/>
                  </a:moveTo>
                  <a:lnTo>
                    <a:pt x="189668" y="135372"/>
                  </a:lnTo>
                  <a:lnTo>
                    <a:pt x="229319" y="175022"/>
                  </a:lnTo>
                  <a:lnTo>
                    <a:pt x="189668" y="214672"/>
                  </a:lnTo>
                  <a:lnTo>
                    <a:pt x="225028" y="250031"/>
                  </a:lnTo>
                  <a:lnTo>
                    <a:pt x="300038" y="175022"/>
                  </a:lnTo>
                  <a:lnTo>
                    <a:pt x="225028" y="100012"/>
                  </a:lnTo>
                  <a:close/>
                </a:path>
              </a:pathLst>
            </a:custGeom>
            <a:solidFill>
              <a:srgbClr val="0EA5E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0095" y="2603182"/>
              <a:ext cx="112774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dpiny-RTK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5810" y="2975610"/>
              <a:ext cx="15106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STM32F407 + UM982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5810" y="32232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真实工程证明案例。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5810" y="347091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展示流程能跑在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5810" y="371856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真实硬件和远程台架上。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314700" y="1752600"/>
            <a:ext cx="2552700" cy="2381250"/>
            <a:chOff x="3314700" y="1752600"/>
            <a:chExt cx="2552700" cy="2381250"/>
          </a:xfrm>
        </p:grpSpPr>
        <p:sp>
          <p:nvSpPr>
            <p:cNvPr id="17" name="Rectangle 17"/>
            <p:cNvSpPr/>
            <p:nvPr/>
          </p:nvSpPr>
          <p:spPr>
            <a:xfrm>
              <a:off x="3314700" y="1752600"/>
              <a:ext cx="2552700" cy="2381250"/>
            </a:xfrm>
            <a:prstGeom prst="roundRect">
              <a:avLst>
                <a:gd name="adj" fmla="val 6400"/>
              </a:avLst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314700" y="1752600"/>
              <a:ext cx="2552700" cy="95250"/>
            </a:xfrm>
            <a:prstGeom prst="roundRect">
              <a:avLst>
                <a:gd name="adj" fmla="val 50000"/>
              </a:avLst>
            </a:prstGeom>
            <a:solidFill>
              <a:srgbClr val="16A34A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3562350" y="2120503"/>
              <a:ext cx="400050" cy="350043"/>
              <a:chOff x="3562350" y="2120503"/>
              <a:chExt cx="400050" cy="35004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562350" y="2120503"/>
                <a:ext cx="4000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200025">
                    <a:moveTo>
                      <a:pt x="100012" y="0"/>
                    </a:moveTo>
                    <a:lnTo>
                      <a:pt x="300038" y="0"/>
                    </a:lnTo>
                    <a:lnTo>
                      <a:pt x="300038" y="100012"/>
                    </a:lnTo>
                    <a:lnTo>
                      <a:pt x="337542" y="100012"/>
                    </a:lnTo>
                    <a:lnTo>
                      <a:pt x="400050" y="162520"/>
                    </a:lnTo>
                    <a:lnTo>
                      <a:pt x="400050" y="200025"/>
                    </a:lnTo>
                    <a:lnTo>
                      <a:pt x="0" y="200025"/>
                    </a:lnTo>
                    <a:lnTo>
                      <a:pt x="0" y="162520"/>
                    </a:lnTo>
                    <a:lnTo>
                      <a:pt x="62508" y="100012"/>
                    </a:lnTo>
                    <a:lnTo>
                      <a:pt x="100012" y="100012"/>
                    </a:lnTo>
                    <a:lnTo>
                      <a:pt x="100012" y="0"/>
                    </a:lnTo>
                    <a:close/>
                    <a:moveTo>
                      <a:pt x="250031" y="50006"/>
                    </a:moveTo>
                    <a:lnTo>
                      <a:pt x="250031" y="100012"/>
                    </a:lnTo>
                    <a:lnTo>
                      <a:pt x="150019" y="100012"/>
                    </a:lnTo>
                    <a:lnTo>
                      <a:pt x="150019" y="50006"/>
                    </a:lnTo>
                    <a:lnTo>
                      <a:pt x="250031" y="50006"/>
                    </a:lnTo>
                    <a:close/>
                  </a:path>
                </a:pathLst>
              </a:custGeom>
              <a:solidFill>
                <a:srgbClr val="16A34A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562350" y="2370534"/>
                <a:ext cx="40005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100012">
                    <a:moveTo>
                      <a:pt x="0" y="0"/>
                    </a:moveTo>
                    <a:lnTo>
                      <a:pt x="0" y="100012"/>
                    </a:lnTo>
                    <a:lnTo>
                      <a:pt x="400050" y="100012"/>
                    </a:lnTo>
                    <a:lnTo>
                      <a:pt x="4000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A34A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3541395" y="2603182"/>
              <a:ext cx="150894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Starter-F103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47110" y="297561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低成本动手实验。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47110" y="3223260"/>
              <a:ext cx="12946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用 F103 + BMP280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47110" y="34709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体验故障复现、证据采集、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47110" y="371856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智能诊断和回归通过。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0" y="1752600"/>
            <a:ext cx="2552700" cy="2381250"/>
            <a:chOff x="6096000" y="1752600"/>
            <a:chExt cx="2552700" cy="2381250"/>
          </a:xfrm>
        </p:grpSpPr>
        <p:sp>
          <p:nvSpPr>
            <p:cNvPr id="28" name="Rectangle 28"/>
            <p:cNvSpPr/>
            <p:nvPr/>
          </p:nvSpPr>
          <p:spPr>
            <a:xfrm>
              <a:off x="6096000" y="1752600"/>
              <a:ext cx="2552700" cy="2381250"/>
            </a:xfrm>
            <a:prstGeom prst="roundRect">
              <a:avLst>
                <a:gd name="adj" fmla="val 6400"/>
              </a:avLst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96000" y="1752600"/>
              <a:ext cx="2552700" cy="9525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368653" y="2095500"/>
              <a:ext cx="350044" cy="400050"/>
              <a:chOff x="6368653" y="2095500"/>
              <a:chExt cx="350044" cy="40005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468666" y="2095500"/>
                <a:ext cx="250031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250031" h="300038">
                    <a:moveTo>
                      <a:pt x="150019" y="0"/>
                    </a:moveTo>
                    <a:lnTo>
                      <a:pt x="0" y="0"/>
                    </a:lnTo>
                    <a:lnTo>
                      <a:pt x="0" y="300038"/>
                    </a:lnTo>
                    <a:lnTo>
                      <a:pt x="250031" y="300038"/>
                    </a:lnTo>
                    <a:lnTo>
                      <a:pt x="250031" y="100012"/>
                    </a:lnTo>
                    <a:lnTo>
                      <a:pt x="150019" y="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368653" y="2195512"/>
                <a:ext cx="250031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250031" h="300038">
                    <a:moveTo>
                      <a:pt x="0" y="0"/>
                    </a:moveTo>
                    <a:lnTo>
                      <a:pt x="0" y="300038"/>
                    </a:lnTo>
                    <a:lnTo>
                      <a:pt x="250031" y="300038"/>
                    </a:lnTo>
                    <a:lnTo>
                      <a:pt x="250031" y="250031"/>
                    </a:lnTo>
                    <a:lnTo>
                      <a:pt x="50006" y="250031"/>
                    </a:lnTo>
                    <a:lnTo>
                      <a:pt x="500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322695" y="260318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证据包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28410" y="29756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公开样例、真实本地台架、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28410" y="322326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远程 HIL 证据包。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28410" y="347091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包含日志、清单、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28410" y="371856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摘要和交接报告。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877300" y="1752600"/>
            <a:ext cx="2781300" cy="2381250"/>
            <a:chOff x="8877300" y="1752600"/>
            <a:chExt cx="2781300" cy="2381250"/>
          </a:xfrm>
        </p:grpSpPr>
        <p:sp>
          <p:nvSpPr>
            <p:cNvPr id="39" name="Rectangle 39"/>
            <p:cNvSpPr/>
            <p:nvPr/>
          </p:nvSpPr>
          <p:spPr>
            <a:xfrm>
              <a:off x="8877300" y="1752600"/>
              <a:ext cx="2781300" cy="2381250"/>
            </a:xfrm>
            <a:prstGeom prst="roundRect">
              <a:avLst>
                <a:gd name="adj" fmla="val 6400"/>
              </a:avLst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877300" y="1752600"/>
              <a:ext cx="2781300" cy="95250"/>
            </a:xfrm>
            <a:prstGeom prst="roundRect">
              <a:avLst>
                <a:gd name="adj" fmla="val 50000"/>
              </a:avLst>
            </a:prstGeom>
            <a:solidFill>
              <a:srgbClr val="0B1F2A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9124950" y="2095500"/>
              <a:ext cx="400050" cy="400050"/>
              <a:chOff x="9124950" y="2095500"/>
              <a:chExt cx="400050" cy="40005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9224962" y="219551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100012" y="0"/>
                    </a:moveTo>
                    <a:cubicBezTo>
                      <a:pt x="44777" y="0"/>
                      <a:pt x="0" y="44777"/>
                      <a:pt x="0" y="100012"/>
                    </a:cubicBezTo>
                    <a:cubicBezTo>
                      <a:pt x="0" y="155247"/>
                      <a:pt x="44777" y="200025"/>
                      <a:pt x="100012" y="200025"/>
                    </a:cubicBezTo>
                    <a:cubicBezTo>
                      <a:pt x="155247" y="200025"/>
                      <a:pt x="200025" y="155247"/>
                      <a:pt x="200025" y="100012"/>
                    </a:cubicBezTo>
                    <a:cubicBezTo>
                      <a:pt x="200025" y="44777"/>
                      <a:pt x="155247" y="0"/>
                      <a:pt x="100012" y="0"/>
                    </a:cubicBezTo>
                    <a:close/>
                    <a:moveTo>
                      <a:pt x="50006" y="100012"/>
                    </a:moveTo>
                    <a:cubicBezTo>
                      <a:pt x="50006" y="72395"/>
                      <a:pt x="72395" y="50006"/>
                      <a:pt x="100012" y="50006"/>
                    </a:cubicBezTo>
                    <a:cubicBezTo>
                      <a:pt x="127630" y="50006"/>
                      <a:pt x="150019" y="72395"/>
                      <a:pt x="150019" y="100012"/>
                    </a:cubicBezTo>
                    <a:cubicBezTo>
                      <a:pt x="150019" y="127630"/>
                      <a:pt x="127630" y="150019"/>
                      <a:pt x="100012" y="150019"/>
                    </a:cubicBezTo>
                    <a:cubicBezTo>
                      <a:pt x="72395" y="150019"/>
                      <a:pt x="50006" y="127630"/>
                      <a:pt x="50006" y="100012"/>
                    </a:cubicBezTo>
                    <a:close/>
                  </a:path>
                </a:pathLst>
              </a:custGeom>
              <a:solidFill>
                <a:srgbClr val="0B1F2A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124950" y="209550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00050">
                    <a:moveTo>
                      <a:pt x="200025" y="0"/>
                    </a:moveTo>
                    <a:cubicBezTo>
                      <a:pt x="89554" y="0"/>
                      <a:pt x="0" y="89554"/>
                      <a:pt x="0" y="200025"/>
                    </a:cubicBezTo>
                    <a:cubicBezTo>
                      <a:pt x="0" y="310496"/>
                      <a:pt x="89554" y="400050"/>
                      <a:pt x="200025" y="400050"/>
                    </a:cubicBezTo>
                    <a:cubicBezTo>
                      <a:pt x="310496" y="400050"/>
                      <a:pt x="400050" y="310496"/>
                      <a:pt x="400050" y="200025"/>
                    </a:cubicBezTo>
                    <a:cubicBezTo>
                      <a:pt x="400050" y="89554"/>
                      <a:pt x="310496" y="0"/>
                      <a:pt x="200025" y="0"/>
                    </a:cubicBezTo>
                    <a:close/>
                    <a:moveTo>
                      <a:pt x="50006" y="200025"/>
                    </a:moveTo>
                    <a:cubicBezTo>
                      <a:pt x="50006" y="117172"/>
                      <a:pt x="117172" y="50006"/>
                      <a:pt x="200025" y="50006"/>
                    </a:cubicBezTo>
                    <a:cubicBezTo>
                      <a:pt x="282878" y="50006"/>
                      <a:pt x="350044" y="117172"/>
                      <a:pt x="350044" y="200025"/>
                    </a:cubicBezTo>
                    <a:cubicBezTo>
                      <a:pt x="350044" y="282878"/>
                      <a:pt x="282878" y="350044"/>
                      <a:pt x="200025" y="350044"/>
                    </a:cubicBezTo>
                    <a:cubicBezTo>
                      <a:pt x="117172" y="350044"/>
                      <a:pt x="50006" y="282878"/>
                      <a:pt x="50006" y="200025"/>
                    </a:cubicBezTo>
                    <a:close/>
                  </a:path>
                </a:pathLst>
              </a:custGeom>
              <a:solidFill>
                <a:srgbClr val="0B1F2A"/>
              </a:solidFill>
              <a:ln>
                <a:noFill/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9103995" y="26031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流程模板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09710" y="2975610"/>
              <a:ext cx="19187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用 project-adapter.json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109710" y="32232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描述项目差异。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109710" y="347091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让流程通用，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109710" y="371856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让项目细节显式。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33400" y="4591050"/>
            <a:ext cx="11125200" cy="819150"/>
            <a:chOff x="533400" y="4591050"/>
            <a:chExt cx="11125200" cy="819150"/>
          </a:xfrm>
        </p:grpSpPr>
        <p:sp>
          <p:nvSpPr>
            <p:cNvPr id="50" name="Rectangle 50"/>
            <p:cNvSpPr/>
            <p:nvPr/>
          </p:nvSpPr>
          <p:spPr>
            <a:xfrm>
              <a:off x="533400" y="4591050"/>
              <a:ext cx="11125200" cy="819150"/>
            </a:xfrm>
            <a:prstGeom prst="roundRect">
              <a:avLst>
                <a:gd name="adj" fmla="val 18605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02958" y="4796314"/>
              <a:ext cx="169859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firmware/dpiny-rtk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155632" y="479631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starter-kits/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174932" y="4796314"/>
              <a:ext cx="83148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evidence/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46558" y="479631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case-studies/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880158" y="4796314"/>
              <a:ext cx="17325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workflow-template/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5815" y="5106352"/>
              <a:ext cx="34711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示范工程 · 学习实验 · 证据包 · 失败复盘 · 可迁移模板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58" name="TextBox 58"/>
            <p:cNvSpPr txBox="1"/>
            <p:nvPr/>
          </p:nvSpPr>
          <p:spPr>
            <a:xfrm>
              <a:off x="521970" y="6246495"/>
              <a:ext cx="26211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Source: Repository map in README.zh-CN.md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04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7" grpId="0"/>
      <p:bldP spid="38" grpId="0"/>
      <p:bldP spid="49" grpId="0"/>
      <p:bldP spid="5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469677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可信的前提：证据可追溯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能被复查的日志和清单，比口头结论更可靠。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533400" y="1752600"/>
            <a:ext cx="11125200" cy="3600450"/>
            <a:chOff x="533400" y="1752600"/>
            <a:chExt cx="11125200" cy="3600450"/>
          </a:xfrm>
        </p:grpSpPr>
        <p:sp>
          <p:nvSpPr>
            <p:cNvPr id="8" name="Rectangle 8"/>
            <p:cNvSpPr/>
            <p:nvPr/>
          </p:nvSpPr>
          <p:spPr>
            <a:xfrm>
              <a:off x="533400" y="1752600"/>
              <a:ext cx="11125200" cy="3600450"/>
            </a:xfrm>
            <a:prstGeom prst="roundRect">
              <a:avLst>
                <a:gd name="adj" fmla="val 4233"/>
              </a:avLst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752600"/>
              <a:ext cx="11125200" cy="514350"/>
            </a:xfrm>
            <a:prstGeom prst="roundRect">
              <a:avLst>
                <a:gd name="adj" fmla="val 29630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33400" y="2114550"/>
              <a:ext cx="11125200" cy="152400"/>
            </a:xfrm>
            <a:prstGeom prst="rect">
              <a:avLst/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3912" y="1964531"/>
              <a:ext cx="4617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Proof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09962" y="1964531"/>
              <a:ext cx="11705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Public artifact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05712" y="1964531"/>
              <a:ext cx="13911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Verification value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93805" y="1964531"/>
              <a:ext cx="5483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Status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33400" y="28384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FDBFE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533400" y="34099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FDBFE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533400" y="39814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FDBFE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533400" y="45529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FDBFE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3219450" y="2266950"/>
              <a:ext cx="9525" cy="3086100"/>
            </a:xfrm>
            <a:custGeom>
              <a:avLst/>
              <a:gdLst/>
              <a:ahLst/>
              <a:cxnLst/>
              <a:rect l="l" t="t" r="r" b="b"/>
              <a:pathLst>
                <a:path w="9525" h="3086100">
                  <a:moveTo>
                    <a:pt x="0" y="0"/>
                  </a:moveTo>
                  <a:lnTo>
                    <a:pt x="0" y="3086100"/>
                  </a:lnTo>
                </a:path>
              </a:pathLst>
            </a:custGeom>
            <a:noFill/>
            <a:ln w="9525">
              <a:solidFill>
                <a:srgbClr val="BFDBFE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315200" y="2266950"/>
              <a:ext cx="9525" cy="3086100"/>
            </a:xfrm>
            <a:custGeom>
              <a:avLst/>
              <a:gdLst/>
              <a:ahLst/>
              <a:cxnLst/>
              <a:rect l="l" t="t" r="r" b="b"/>
              <a:pathLst>
                <a:path w="9525" h="3086100">
                  <a:moveTo>
                    <a:pt x="0" y="0"/>
                  </a:moveTo>
                  <a:lnTo>
                    <a:pt x="0" y="3086100"/>
                  </a:lnTo>
                </a:path>
              </a:pathLst>
            </a:custGeom>
            <a:noFill/>
            <a:ln w="9525">
              <a:solidFill>
                <a:srgbClr val="BFDBF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0210800" y="2266950"/>
              <a:ext cx="9525" cy="3086100"/>
            </a:xfrm>
            <a:custGeom>
              <a:avLst/>
              <a:gdLst/>
              <a:ahLst/>
              <a:cxnLst/>
              <a:rect l="l" t="t" r="r" b="b"/>
              <a:pathLst>
                <a:path w="9525" h="3086100">
                  <a:moveTo>
                    <a:pt x="0" y="0"/>
                  </a:moveTo>
                  <a:lnTo>
                    <a:pt x="0" y="3086100"/>
                  </a:lnTo>
                </a:path>
              </a:pathLst>
            </a:custGeom>
            <a:noFill/>
            <a:ln w="9525">
              <a:solidFill>
                <a:srgbClr val="BFDBFE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2008" y="247221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本地真实台架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09962" y="2488406"/>
              <a:ext cx="30064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6"/>
                  </a:solidFill>
                  <a:latin typeface="Consolas"/>
                  <a:ea typeface="Microsoft YaHei"/>
                  <a:cs typeface="Consolas"/>
                </a:rPr>
                <a:t>evidence/realrun-redacted-2026-05-20/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05712" y="248840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脱敏后的真实硬件基线记录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0410825" y="2428875"/>
              <a:ext cx="514350" cy="266700"/>
            </a:xfrm>
            <a:prstGeom prst="roundRect">
              <a:avLst>
                <a:gd name="adj" fmla="val 50000"/>
              </a:avLst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05449" y="2514124"/>
              <a:ext cx="3251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PASS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2008" y="3043714"/>
              <a:ext cx="69291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远程 HIL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09962" y="3059906"/>
              <a:ext cx="32464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6"/>
                  </a:solidFill>
                  <a:latin typeface="Consolas"/>
                  <a:ea typeface="Microsoft YaHei"/>
                  <a:cs typeface="Consolas"/>
                </a:rPr>
                <a:t>evidence/remote-hil-redacted-2026-05-20/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05712" y="3059906"/>
              <a:ext cx="22788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远程编译、烧录、验证和证据回传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410825" y="3000375"/>
              <a:ext cx="514350" cy="266700"/>
            </a:xfrm>
            <a:prstGeom prst="roundRect">
              <a:avLst>
                <a:gd name="adj" fmla="val 50000"/>
              </a:avLst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505449" y="3085624"/>
              <a:ext cx="3251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PASS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2008" y="3615214"/>
              <a:ext cx="121955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USB CDC reset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09962" y="3631406"/>
              <a:ext cx="34039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6"/>
                  </a:solidFill>
                  <a:latin typeface="Consolas"/>
                  <a:ea typeface="Microsoft YaHei"/>
                  <a:cs typeface="Consolas"/>
                </a:rPr>
                <a:t>case-studies/04-usb-cdc-reset-recovery.md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05712" y="3631406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失败复盘沉淀为回归关卡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0363200" y="3571875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505449" y="3657124"/>
              <a:ext cx="3251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GATE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2008" y="4186714"/>
              <a:ext cx="80895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RTCM CRC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09962" y="4202906"/>
              <a:ext cx="16337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6"/>
                  </a:solidFill>
                  <a:latin typeface="Consolas"/>
                  <a:ea typeface="Microsoft YaHei"/>
                  <a:cs typeface="Consolas"/>
                </a:rPr>
                <a:t>tools/rtcm_parse.ps1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05712" y="420290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协议输出用退出码严格校验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363200" y="4143375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505449" y="4228624"/>
              <a:ext cx="3251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GATE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2008" y="475821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寄存器快照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09962" y="4774406"/>
              <a:ext cx="18963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6"/>
                  </a:solidFill>
                  <a:latin typeface="Consolas"/>
                  <a:ea typeface="Microsoft YaHei"/>
                  <a:cs typeface="Consolas"/>
                </a:rPr>
                <a:t>tools/register_probe.ps1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05712" y="4774406"/>
              <a:ext cx="16337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只读采集，解释关键 bit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306050" y="4714875"/>
              <a:ext cx="723900" cy="2667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505449" y="4800124"/>
              <a:ext cx="3251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READ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21519" y="5657850"/>
            <a:ext cx="7951112" cy="307181"/>
            <a:chOff x="721519" y="5657850"/>
            <a:chExt cx="7951112" cy="307181"/>
          </a:xfrm>
        </p:grpSpPr>
        <p:grpSp>
          <p:nvGrpSpPr>
            <p:cNvPr id="50" name="Group 50"/>
            <p:cNvGrpSpPr/>
            <p:nvPr/>
          </p:nvGrpSpPr>
          <p:grpSpPr>
            <a:xfrm>
              <a:off x="721519" y="5657850"/>
              <a:ext cx="233363" cy="266700"/>
              <a:chOff x="721519" y="5657850"/>
              <a:chExt cx="233363" cy="2667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88194" y="5657850"/>
                <a:ext cx="166688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00025">
                    <a:moveTo>
                      <a:pt x="100012" y="0"/>
                    </a:moveTo>
                    <a:lnTo>
                      <a:pt x="0" y="0"/>
                    </a:lnTo>
                    <a:lnTo>
                      <a:pt x="0" y="200025"/>
                    </a:lnTo>
                    <a:lnTo>
                      <a:pt x="166688" y="200025"/>
                    </a:lnTo>
                    <a:lnTo>
                      <a:pt x="166688" y="66675"/>
                    </a:lnTo>
                    <a:lnTo>
                      <a:pt x="100012" y="0"/>
                    </a:lnTo>
                    <a:close/>
                  </a:path>
                </a:pathLst>
              </a:custGeom>
              <a:solidFill>
                <a:srgbClr val="0B1F2A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1519" y="5724525"/>
                <a:ext cx="166688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00025">
                    <a:moveTo>
                      <a:pt x="0" y="0"/>
                    </a:moveTo>
                    <a:lnTo>
                      <a:pt x="0" y="200025"/>
                    </a:lnTo>
                    <a:lnTo>
                      <a:pt x="166688" y="200025"/>
                    </a:lnTo>
                    <a:lnTo>
                      <a:pt x="166688" y="166688"/>
                    </a:lnTo>
                    <a:lnTo>
                      <a:pt x="33338" y="166688"/>
                    </a:lnTo>
                    <a:lnTo>
                      <a:pt x="3333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B1F2A"/>
              </a:solidFill>
              <a:ln>
                <a:noFill/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90612" y="5736431"/>
              <a:ext cx="75820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6"/>
                  </a:solidFill>
                  <a:latin typeface="Consolas"/>
                  <a:ea typeface="Microsoft YaHei"/>
                  <a:cs typeface="Consolas"/>
                </a:rPr>
                <a:t>00_manifest.json · 02_build_debug.log · 03_flash_verify.log · test_summary.md · handoff_report.md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53" name="TextBox 53"/>
            <p:cNvSpPr txBox="1"/>
            <p:nvPr/>
          </p:nvSpPr>
          <p:spPr>
            <a:xfrm>
              <a:off x="521970" y="6246495"/>
              <a:ext cx="37613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Source: README.zh-CN.md and docs/trust-it/README.zh-CN.md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05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385667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真实硬件验证怎么做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硬件留在台架旁，流程远程触发，证据本地生成。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33400" y="1695450"/>
            <a:ext cx="11125200" cy="4000500"/>
            <a:chOff x="533400" y="1695450"/>
            <a:chExt cx="11125200" cy="400050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rcRect l="0" t="18054" r="0" b="18054"/>
            <a:stretch>
              <a:fillRect/>
            </a:stretch>
          </p:blipFill>
          <p:spPr>
            <a:xfrm>
              <a:off x="533400" y="1695450"/>
              <a:ext cx="11125200" cy="4000500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533400" y="1695450"/>
              <a:ext cx="11125200" cy="4000500"/>
            </a:xfrm>
            <a:prstGeom prst="roundRect">
              <a:avLst>
                <a:gd name="adj" fmla="val 5238"/>
              </a:avLst>
            </a:prstGeom>
            <a:solidFill>
              <a:srgbClr val="FFFFFF">
                <a:alpha val="0"/>
              </a:srgbClr>
            </a:solidFill>
            <a:ln w="19050">
              <a:solidFill>
                <a:srgbClr val="BFDBFE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38200" y="4705350"/>
              <a:ext cx="10287000" cy="647700"/>
            </a:xfrm>
            <a:prstGeom prst="roundRect">
              <a:avLst>
                <a:gd name="adj" fmla="val 26471"/>
              </a:avLst>
            </a:prstGeom>
            <a:solidFill>
              <a:srgbClr val="0B1F2A">
                <a:alpha val="78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83945" y="4822508"/>
              <a:ext cx="30683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远程不是“让同事帮忙点一下”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89660" y="5128260"/>
              <a:ext cx="57912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它是一条可复查的硬件证据生产线：远程触发、台架执行、日志回传、交接留痕。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14" name="TextBox 14"/>
            <p:cNvSpPr txBox="1"/>
            <p:nvPr/>
          </p:nvSpPr>
          <p:spPr>
            <a:xfrm>
              <a:off x="521970" y="6246495"/>
              <a:ext cx="38153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Source: docs/trust-it/README.zh-CN.md remote HIL description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06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259651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读者如何上手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用便宜板卡复现真实流程，让读者亲手跑通。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33400" y="1752600"/>
            <a:ext cx="3333750" cy="3676650"/>
            <a:chOff x="533400" y="1752600"/>
            <a:chExt cx="3333750" cy="3676650"/>
          </a:xfrm>
        </p:grpSpPr>
        <p:sp>
          <p:nvSpPr>
            <p:cNvPr id="8" name="Rectangle 8"/>
            <p:cNvSpPr/>
            <p:nvPr/>
          </p:nvSpPr>
          <p:spPr>
            <a:xfrm>
              <a:off x="533400" y="1752600"/>
              <a:ext cx="3333750" cy="3676650"/>
            </a:xfrm>
            <a:prstGeom prst="roundRect">
              <a:avLst>
                <a:gd name="adj" fmla="val 5143"/>
              </a:avLst>
            </a:prstGeom>
            <a:solidFill>
              <a:srgbClr val="0B1F2A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76300" y="2145506"/>
              <a:ext cx="495300" cy="433388"/>
              <a:chOff x="876300" y="2145506"/>
              <a:chExt cx="495300" cy="43338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76300" y="2145506"/>
                <a:ext cx="49530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247650">
                    <a:moveTo>
                      <a:pt x="123825" y="0"/>
                    </a:moveTo>
                    <a:lnTo>
                      <a:pt x="371475" y="0"/>
                    </a:lnTo>
                    <a:lnTo>
                      <a:pt x="371475" y="123825"/>
                    </a:lnTo>
                    <a:lnTo>
                      <a:pt x="417909" y="123825"/>
                    </a:lnTo>
                    <a:lnTo>
                      <a:pt x="495300" y="201216"/>
                    </a:lnTo>
                    <a:lnTo>
                      <a:pt x="495300" y="247650"/>
                    </a:lnTo>
                    <a:lnTo>
                      <a:pt x="0" y="247650"/>
                    </a:lnTo>
                    <a:lnTo>
                      <a:pt x="0" y="201216"/>
                    </a:lnTo>
                    <a:lnTo>
                      <a:pt x="77391" y="123825"/>
                    </a:lnTo>
                    <a:lnTo>
                      <a:pt x="123825" y="123825"/>
                    </a:lnTo>
                    <a:lnTo>
                      <a:pt x="123825" y="0"/>
                    </a:lnTo>
                    <a:close/>
                    <a:moveTo>
                      <a:pt x="309562" y="61912"/>
                    </a:moveTo>
                    <a:lnTo>
                      <a:pt x="309562" y="123825"/>
                    </a:lnTo>
                    <a:lnTo>
                      <a:pt x="185738" y="123825"/>
                    </a:lnTo>
                    <a:lnTo>
                      <a:pt x="185738" y="61912"/>
                    </a:lnTo>
                    <a:lnTo>
                      <a:pt x="309562" y="619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76300" y="2455069"/>
                <a:ext cx="49530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123825">
                    <a:moveTo>
                      <a:pt x="0" y="0"/>
                    </a:moveTo>
                    <a:lnTo>
                      <a:pt x="0" y="123825"/>
                    </a:lnTo>
                    <a:lnTo>
                      <a:pt x="495300" y="123825"/>
                    </a:lnTo>
                    <a:lnTo>
                      <a:pt x="4953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855345" y="277463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低成本硬件台架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1060" y="3242310"/>
              <a:ext cx="11666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STM32F103C8T6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1060" y="3566160"/>
              <a:ext cx="13906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BMP280 I2C 传感器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1060" y="3890010"/>
              <a:ext cx="6065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ST-LINK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1060" y="4213860"/>
              <a:ext cx="7345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USB-UART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1060" y="45377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日志、清单和诊断提示词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6300" y="4895850"/>
              <a:ext cx="2076450" cy="323850"/>
            </a:xfrm>
            <a:prstGeom prst="roundRect">
              <a:avLst>
                <a:gd name="adj" fmla="val 50000"/>
              </a:avLst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313116" y="4992052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动手跑通证据闭环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171950" y="1752600"/>
            <a:ext cx="7486650" cy="1238250"/>
            <a:chOff x="4171950" y="1752600"/>
            <a:chExt cx="7486650" cy="1238250"/>
          </a:xfrm>
        </p:grpSpPr>
        <p:sp>
          <p:nvSpPr>
            <p:cNvPr id="21" name="Rectangle 21"/>
            <p:cNvSpPr/>
            <p:nvPr/>
          </p:nvSpPr>
          <p:spPr>
            <a:xfrm>
              <a:off x="4171950" y="1752600"/>
              <a:ext cx="7486650" cy="1238250"/>
            </a:xfrm>
            <a:prstGeom prst="roundRect">
              <a:avLst>
                <a:gd name="adj" fmla="val 13846"/>
              </a:avLst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455795" y="19554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学习闭环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62462" y="2336006"/>
              <a:ext cx="30964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建立基线 → 注入故障 → 自动失败 → 生成证据包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62462" y="2602706"/>
              <a:ext cx="21738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智能诊断 → 最小修复 → 回归通过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171950" y="3276600"/>
            <a:ext cx="3562350" cy="876300"/>
            <a:chOff x="4171950" y="3276600"/>
            <a:chExt cx="3562350" cy="876300"/>
          </a:xfrm>
        </p:grpSpPr>
        <p:sp>
          <p:nvSpPr>
            <p:cNvPr id="26" name="Rectangle 26"/>
            <p:cNvSpPr/>
            <p:nvPr/>
          </p:nvSpPr>
          <p:spPr>
            <a:xfrm>
              <a:off x="4171950" y="3276600"/>
              <a:ext cx="3562350" cy="876300"/>
            </a:xfrm>
            <a:prstGeom prst="roundRect">
              <a:avLst>
                <a:gd name="adj" fmla="val 17391"/>
              </a:avLst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171950" y="3276600"/>
              <a:ext cx="76200" cy="876300"/>
            </a:xfrm>
            <a:prstGeom prst="rect">
              <a:avLst/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461510" y="3470910"/>
              <a:ext cx="5429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6A34A"/>
                  </a:solidFill>
                  <a:latin typeface="Consolas"/>
                  <a:ea typeface="Microsoft YaHei"/>
                  <a:cs typeface="Consolas"/>
                </a:rPr>
                <a:t>Case 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60558" y="3767614"/>
              <a:ext cx="17819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BMP280 数据质量异常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096250" y="3276600"/>
            <a:ext cx="3562350" cy="876300"/>
            <a:chOff x="8096250" y="3276600"/>
            <a:chExt cx="3562350" cy="876300"/>
          </a:xfrm>
        </p:grpSpPr>
        <p:sp>
          <p:nvSpPr>
            <p:cNvPr id="31" name="Rectangle 31"/>
            <p:cNvSpPr/>
            <p:nvPr/>
          </p:nvSpPr>
          <p:spPr>
            <a:xfrm>
              <a:off x="8096250" y="3276600"/>
              <a:ext cx="3562350" cy="876300"/>
            </a:xfrm>
            <a:prstGeom prst="roundRect">
              <a:avLst>
                <a:gd name="adj" fmla="val 17391"/>
              </a:avLst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096250" y="3276600"/>
              <a:ext cx="76200" cy="876300"/>
            </a:xfrm>
            <a:prstGeom prst="rect">
              <a:avLst/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385810" y="3470910"/>
              <a:ext cx="5429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A5E9"/>
                  </a:solidFill>
                  <a:latin typeface="Consolas"/>
                  <a:ea typeface="Microsoft YaHei"/>
                  <a:cs typeface="Consolas"/>
                </a:rPr>
                <a:t>Case B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84858" y="3767614"/>
              <a:ext cx="177297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I2C reset 后恢复失败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171950" y="4400550"/>
            <a:ext cx="3562350" cy="876300"/>
            <a:chOff x="4171950" y="4400550"/>
            <a:chExt cx="3562350" cy="876300"/>
          </a:xfrm>
        </p:grpSpPr>
        <p:sp>
          <p:nvSpPr>
            <p:cNvPr id="36" name="Rectangle 36"/>
            <p:cNvSpPr/>
            <p:nvPr/>
          </p:nvSpPr>
          <p:spPr>
            <a:xfrm>
              <a:off x="4171950" y="4400550"/>
              <a:ext cx="3562350" cy="876300"/>
            </a:xfrm>
            <a:prstGeom prst="roundRect">
              <a:avLst>
                <a:gd name="adj" fmla="val 17391"/>
              </a:avLst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171950" y="4400550"/>
              <a:ext cx="76200" cy="8763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461510" y="4594860"/>
              <a:ext cx="5429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Case 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60558" y="4891564"/>
              <a:ext cx="128204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配置持久化失败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096250" y="4400550"/>
            <a:ext cx="3562350" cy="876300"/>
            <a:chOff x="8096250" y="4400550"/>
            <a:chExt cx="3562350" cy="876300"/>
          </a:xfrm>
        </p:grpSpPr>
        <p:sp>
          <p:nvSpPr>
            <p:cNvPr id="41" name="Rectangle 41"/>
            <p:cNvSpPr/>
            <p:nvPr/>
          </p:nvSpPr>
          <p:spPr>
            <a:xfrm>
              <a:off x="8096250" y="4400550"/>
              <a:ext cx="3562350" cy="876300"/>
            </a:xfrm>
            <a:prstGeom prst="roundRect">
              <a:avLst>
                <a:gd name="adj" fmla="val 17391"/>
              </a:avLst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096250" y="4400550"/>
              <a:ext cx="76200" cy="876300"/>
            </a:xfrm>
            <a:prstGeom prst="rect">
              <a:avLst/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385810" y="4594860"/>
              <a:ext cx="5429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1F2A"/>
                  </a:solidFill>
                  <a:latin typeface="Consolas"/>
                  <a:ea typeface="Microsoft YaHei"/>
                  <a:cs typeface="Consolas"/>
                </a:rPr>
                <a:t>Case 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84858" y="4891564"/>
              <a:ext cx="22014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UART DMA/IDLE 数据流问题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46" name="TextBox 46"/>
            <p:cNvSpPr txBox="1"/>
            <p:nvPr/>
          </p:nvSpPr>
          <p:spPr>
            <a:xfrm>
              <a:off x="521970" y="6246495"/>
              <a:ext cx="24231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Source: docs/learn-it/README.zh-CN.md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07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5" grpId="0"/>
      <p:bldP spid="30" grpId="0"/>
      <p:bldP spid="35" grpId="0"/>
      <p:bldP spid="40" grpId="0"/>
      <p:bldP spid="4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385667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评审者如何建立信任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先看证据，再看智能助手是否守住边界。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33400" y="1752600"/>
            <a:ext cx="3028950" cy="3829050"/>
            <a:chOff x="533400" y="1752600"/>
            <a:chExt cx="3028950" cy="3829050"/>
          </a:xfrm>
        </p:grpSpPr>
        <p:sp>
          <p:nvSpPr>
            <p:cNvPr id="8" name="Rectangle 8"/>
            <p:cNvSpPr/>
            <p:nvPr/>
          </p:nvSpPr>
          <p:spPr>
            <a:xfrm>
              <a:off x="533400" y="1752600"/>
              <a:ext cx="3028950" cy="3829050"/>
            </a:xfrm>
            <a:prstGeom prst="roundRect">
              <a:avLst>
                <a:gd name="adj" fmla="val 5660"/>
              </a:avLst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795462" y="2152650"/>
              <a:ext cx="600075" cy="685800"/>
            </a:xfrm>
            <a:custGeom>
              <a:avLst/>
              <a:gdLst/>
              <a:ahLst/>
              <a:cxnLst/>
              <a:rect l="l" t="t" r="r" b="b"/>
              <a:pathLst>
                <a:path w="600075" h="685800">
                  <a:moveTo>
                    <a:pt x="300038" y="685800"/>
                  </a:moveTo>
                  <a:lnTo>
                    <a:pt x="143593" y="574053"/>
                  </a:lnTo>
                  <a:cubicBezTo>
                    <a:pt x="53481" y="509687"/>
                    <a:pt x="0" y="405765"/>
                    <a:pt x="0" y="295025"/>
                  </a:cubicBezTo>
                  <a:lnTo>
                    <a:pt x="0" y="128588"/>
                  </a:lnTo>
                  <a:lnTo>
                    <a:pt x="300038" y="0"/>
                  </a:lnTo>
                  <a:lnTo>
                    <a:pt x="600075" y="128588"/>
                  </a:lnTo>
                  <a:lnTo>
                    <a:pt x="600075" y="295025"/>
                  </a:lnTo>
                  <a:cubicBezTo>
                    <a:pt x="600075" y="405765"/>
                    <a:pt x="546595" y="509687"/>
                    <a:pt x="456481" y="574053"/>
                  </a:cubicBezTo>
                  <a:lnTo>
                    <a:pt x="300038" y="685800"/>
                  </a:lnTo>
                  <a:close/>
                  <a:moveTo>
                    <a:pt x="480364" y="244621"/>
                  </a:moveTo>
                  <a:lnTo>
                    <a:pt x="419748" y="184004"/>
                  </a:lnTo>
                  <a:lnTo>
                    <a:pt x="257175" y="346577"/>
                  </a:lnTo>
                  <a:lnTo>
                    <a:pt x="180327" y="269729"/>
                  </a:lnTo>
                  <a:lnTo>
                    <a:pt x="119710" y="330346"/>
                  </a:lnTo>
                  <a:lnTo>
                    <a:pt x="257175" y="467810"/>
                  </a:lnTo>
                  <a:lnTo>
                    <a:pt x="480364" y="244621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33833" y="30603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信任不是承诺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33833" y="349853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EA5E9"/>
                  </a:solidFill>
                  <a:latin typeface="Arial"/>
                  <a:ea typeface="Microsoft YaHei"/>
                  <a:cs typeface="Arial"/>
                </a:rPr>
                <a:t>是可复查材料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047750" y="4057650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9525">
              <a:solidFill>
                <a:srgbClr val="BFDBFE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6310" y="43472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目标不是证明助手很聪明，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56310" y="46329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而是证明流程失败时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6310" y="49187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也能留下审查材料。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943350" y="1752600"/>
            <a:ext cx="7715250" cy="3402806"/>
            <a:chOff x="3943350" y="1752600"/>
            <a:chExt cx="7715250" cy="3402806"/>
          </a:xfrm>
        </p:grpSpPr>
        <p:sp>
          <p:nvSpPr>
            <p:cNvPr id="17" name="Rectangle 17"/>
            <p:cNvSpPr/>
            <p:nvPr/>
          </p:nvSpPr>
          <p:spPr>
            <a:xfrm>
              <a:off x="3943350" y="1752600"/>
              <a:ext cx="7715250" cy="609600"/>
            </a:xfrm>
            <a:prstGeom prst="roundRect">
              <a:avLst>
                <a:gd name="adj" fmla="val 21875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227195" y="196500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建议审查顺序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4133850" y="2643664"/>
              <a:ext cx="3020734" cy="511492"/>
              <a:chOff x="4133850" y="2643664"/>
              <a:chExt cx="3020734" cy="511492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4133850" y="2647950"/>
                <a:ext cx="419100" cy="419100"/>
              </a:xfrm>
              <a:prstGeom prst="ellipse">
                <a:avLst/>
              </a:prstGeom>
              <a:solidFill>
                <a:srgbClr val="16A34A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302957" y="2794635"/>
                <a:ext cx="8088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1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746308" y="26436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6232C"/>
                    </a:solidFill>
                    <a:latin typeface="Arial"/>
                    <a:ea typeface="Microsoft YaHei"/>
                    <a:cs typeface="Arial"/>
                  </a:rPr>
                  <a:t>先看清单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748212" y="2926556"/>
                <a:ext cx="240637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76"/>
                    </a:solidFill>
                    <a:latin typeface="Arial"/>
                    <a:ea typeface="Microsoft YaHei"/>
                    <a:cs typeface="Arial"/>
                  </a:rPr>
                  <a:t>每一步都有 step、result 和耗时。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133850" y="3310414"/>
              <a:ext cx="3583304" cy="511492"/>
              <a:chOff x="4133850" y="3310414"/>
              <a:chExt cx="3583304" cy="511492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4133850" y="3314700"/>
                <a:ext cx="419100" cy="419100"/>
              </a:xfrm>
              <a:prstGeom prst="ellipse">
                <a:avLst/>
              </a:prstGeom>
              <a:solidFill>
                <a:srgbClr val="0EA5E9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4281954" y="346138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2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746308" y="3310414"/>
                <a:ext cx="121955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6232C"/>
                    </a:solidFill>
                    <a:latin typeface="Arial"/>
                    <a:ea typeface="Microsoft YaHei"/>
                    <a:cs typeface="Arial"/>
                  </a:rPr>
                  <a:t>再看 RTCM CRC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748212" y="3593306"/>
                <a:ext cx="296894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76"/>
                    </a:solidFill>
                    <a:latin typeface="Arial"/>
                    <a:ea typeface="Microsoft YaHei"/>
                    <a:cs typeface="Arial"/>
                  </a:rPr>
                  <a:t>确认 CRC BAD = 0，并且脚本有明确退出码。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133850" y="3977164"/>
              <a:ext cx="3200757" cy="511492"/>
              <a:chOff x="4133850" y="3977164"/>
              <a:chExt cx="3200757" cy="511492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4133850" y="3981450"/>
                <a:ext cx="419100" cy="4191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281954" y="41281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3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746308" y="3977164"/>
                <a:ext cx="134452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6232C"/>
                    </a:solidFill>
                    <a:latin typeface="Arial"/>
                    <a:ea typeface="Microsoft YaHei"/>
                    <a:cs typeface="Arial"/>
                  </a:rPr>
                  <a:t>检查 reset 证据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748212" y="4260056"/>
                <a:ext cx="258639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76"/>
                    </a:solidFill>
                    <a:latin typeface="Arial"/>
                    <a:ea typeface="Microsoft YaHei"/>
                    <a:cs typeface="Arial"/>
                  </a:rPr>
                  <a:t>reset 前后都应有可复查的串口材料。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4133850" y="4643914"/>
              <a:ext cx="2998231" cy="511492"/>
              <a:chOff x="4133850" y="4643914"/>
              <a:chExt cx="2998231" cy="511492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4133850" y="4648200"/>
                <a:ext cx="419100" cy="419100"/>
              </a:xfrm>
              <a:prstGeom prst="ellipse">
                <a:avLst/>
              </a:prstGeom>
              <a:solidFill>
                <a:srgbClr val="0B1F2A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4281954" y="479488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4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746308" y="4643914"/>
                <a:ext cx="208539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6232C"/>
                    </a:solidFill>
                    <a:latin typeface="Arial"/>
                    <a:ea typeface="Microsoft YaHei"/>
                    <a:cs typeface="Arial"/>
                  </a:rPr>
                  <a:t>确认只读 register probe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748212" y="4926806"/>
                <a:ext cx="23838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76"/>
                    </a:solidFill>
                    <a:latin typeface="Arial"/>
                    <a:ea typeface="Microsoft YaHei"/>
                    <a:cs typeface="Arial"/>
                  </a:rPr>
                  <a:t>能解释关键 bit，不做破坏性写入。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7962900" y="2686050"/>
              <a:ext cx="3162300" cy="2133600"/>
              <a:chOff x="7962900" y="2686050"/>
              <a:chExt cx="3162300" cy="21336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7962900" y="2686050"/>
                <a:ext cx="3162300" cy="2133600"/>
              </a:xfrm>
              <a:prstGeom prst="roundRect">
                <a:avLst>
                  <a:gd name="adj" fmla="val 8036"/>
                </a:avLst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234488" y="3009900"/>
                <a:ext cx="466725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466725" h="533400">
                    <a:moveTo>
                      <a:pt x="233362" y="533400"/>
                    </a:moveTo>
                    <a:lnTo>
                      <a:pt x="111684" y="446486"/>
                    </a:lnTo>
                    <a:cubicBezTo>
                      <a:pt x="41596" y="396423"/>
                      <a:pt x="0" y="315595"/>
                      <a:pt x="0" y="229464"/>
                    </a:cubicBezTo>
                    <a:lnTo>
                      <a:pt x="0" y="100012"/>
                    </a:lnTo>
                    <a:lnTo>
                      <a:pt x="233362" y="0"/>
                    </a:lnTo>
                    <a:lnTo>
                      <a:pt x="466725" y="100012"/>
                    </a:lnTo>
                    <a:lnTo>
                      <a:pt x="466725" y="229464"/>
                    </a:lnTo>
                    <a:cubicBezTo>
                      <a:pt x="466725" y="315595"/>
                      <a:pt x="425130" y="396423"/>
                      <a:pt x="355041" y="446486"/>
                    </a:cubicBezTo>
                    <a:lnTo>
                      <a:pt x="233362" y="533400"/>
                    </a:lnTo>
                    <a:close/>
                    <a:moveTo>
                      <a:pt x="373617" y="190261"/>
                    </a:moveTo>
                    <a:lnTo>
                      <a:pt x="326471" y="143114"/>
                    </a:lnTo>
                    <a:lnTo>
                      <a:pt x="200025" y="269560"/>
                    </a:lnTo>
                    <a:lnTo>
                      <a:pt x="140255" y="209789"/>
                    </a:lnTo>
                    <a:lnTo>
                      <a:pt x="93108" y="256936"/>
                    </a:lnTo>
                    <a:lnTo>
                      <a:pt x="200025" y="363852"/>
                    </a:lnTo>
                    <a:lnTo>
                      <a:pt x="373617" y="190261"/>
                    </a:lnTo>
                    <a:close/>
                  </a:path>
                </a:pathLst>
              </a:custGeom>
              <a:solidFill>
                <a:srgbClr val="0EA5E9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8367951" y="3727132"/>
                <a:ext cx="235219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B1F2A"/>
                    </a:solidFill>
                    <a:latin typeface="Arial"/>
                    <a:ea typeface="Microsoft YaHei"/>
                    <a:cs typeface="Arial"/>
                  </a:rPr>
                  <a:t>助手被放在人审边界内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328660" y="4156710"/>
                <a:ext cx="2430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5B6B76"/>
                    </a:solidFill>
                    <a:latin typeface="Arial"/>
                    <a:ea typeface="Microsoft YaHei"/>
                    <a:cs typeface="Arial"/>
                  </a:rPr>
                  <a:t>烧录、寄存器写入、安全相关动作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808720" y="4404360"/>
                <a:ext cx="14706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5B6B76"/>
                    </a:solidFill>
                    <a:latin typeface="Arial"/>
                    <a:ea typeface="Microsoft YaHei"/>
                    <a:cs typeface="Arial"/>
                  </a:rPr>
                  <a:t>不能绕过人工确认。</a:t>
                </a:r>
              </a:p>
            </p:txBody>
          </p:sp>
        </p:grpSp>
      </p:grpSp>
      <p:grpSp>
        <p:nvGrpSpPr>
          <p:cNvPr id="48" name="Group 48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46" name="TextBox 46"/>
            <p:cNvSpPr txBox="1"/>
            <p:nvPr/>
          </p:nvSpPr>
          <p:spPr>
            <a:xfrm>
              <a:off x="521970" y="6246495"/>
              <a:ext cx="3245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Source: docs/trust-it/README.zh-CN.md review order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08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343662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客户如何小步接入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先选一块板和一条链路，做小范围试点。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33400" y="1752600"/>
            <a:ext cx="2647950" cy="3543300"/>
            <a:chOff x="533400" y="1752600"/>
            <a:chExt cx="2647950" cy="3543300"/>
          </a:xfrm>
        </p:grpSpPr>
        <p:sp>
          <p:nvSpPr>
            <p:cNvPr id="8" name="Rectangle 8"/>
            <p:cNvSpPr/>
            <p:nvPr/>
          </p:nvSpPr>
          <p:spPr>
            <a:xfrm>
              <a:off x="533400" y="1752600"/>
              <a:ext cx="2647950" cy="3543300"/>
            </a:xfrm>
            <a:prstGeom prst="roundRect">
              <a:avLst>
                <a:gd name="adj" fmla="val 6475"/>
              </a:avLst>
            </a:prstGeom>
            <a:solidFill>
              <a:srgbClr val="0B1F2A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76300" y="2133600"/>
              <a:ext cx="495300" cy="495300"/>
              <a:chOff x="876300" y="2133600"/>
              <a:chExt cx="495300" cy="4953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00125" y="2257425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123825" y="0"/>
                    </a:moveTo>
                    <a:cubicBezTo>
                      <a:pt x="55438" y="0"/>
                      <a:pt x="0" y="55438"/>
                      <a:pt x="0" y="123825"/>
                    </a:cubicBezTo>
                    <a:cubicBezTo>
                      <a:pt x="0" y="192210"/>
                      <a:pt x="55438" y="247650"/>
                      <a:pt x="123825" y="247650"/>
                    </a:cubicBezTo>
                    <a:cubicBezTo>
                      <a:pt x="192210" y="247650"/>
                      <a:pt x="247650" y="192210"/>
                      <a:pt x="247650" y="123825"/>
                    </a:cubicBezTo>
                    <a:cubicBezTo>
                      <a:pt x="247650" y="55438"/>
                      <a:pt x="192210" y="0"/>
                      <a:pt x="123825" y="0"/>
                    </a:cubicBezTo>
                    <a:close/>
                    <a:moveTo>
                      <a:pt x="61912" y="123825"/>
                    </a:moveTo>
                    <a:cubicBezTo>
                      <a:pt x="61912" y="89632"/>
                      <a:pt x="89632" y="61912"/>
                      <a:pt x="123825" y="61912"/>
                    </a:cubicBezTo>
                    <a:cubicBezTo>
                      <a:pt x="158018" y="61912"/>
                      <a:pt x="185738" y="89632"/>
                      <a:pt x="185738" y="123825"/>
                    </a:cubicBezTo>
                    <a:cubicBezTo>
                      <a:pt x="185738" y="158018"/>
                      <a:pt x="158018" y="185738"/>
                      <a:pt x="123825" y="185738"/>
                    </a:cubicBezTo>
                    <a:cubicBezTo>
                      <a:pt x="89632" y="185738"/>
                      <a:pt x="61912" y="158018"/>
                      <a:pt x="61912" y="12382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76300" y="213360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>
                    <a:moveTo>
                      <a:pt x="247650" y="0"/>
                    </a:moveTo>
                    <a:cubicBezTo>
                      <a:pt x="110877" y="0"/>
                      <a:pt x="0" y="110877"/>
                      <a:pt x="0" y="247650"/>
                    </a:cubicBezTo>
                    <a:cubicBezTo>
                      <a:pt x="0" y="384424"/>
                      <a:pt x="110877" y="495300"/>
                      <a:pt x="247650" y="495300"/>
                    </a:cubicBezTo>
                    <a:cubicBezTo>
                      <a:pt x="384424" y="495300"/>
                      <a:pt x="495300" y="384424"/>
                      <a:pt x="495300" y="247650"/>
                    </a:cubicBezTo>
                    <a:cubicBezTo>
                      <a:pt x="495300" y="110877"/>
                      <a:pt x="384424" y="0"/>
                      <a:pt x="247650" y="0"/>
                    </a:cubicBezTo>
                    <a:close/>
                    <a:moveTo>
                      <a:pt x="61912" y="247650"/>
                    </a:moveTo>
                    <a:cubicBezTo>
                      <a:pt x="61912" y="145070"/>
                      <a:pt x="145070" y="61912"/>
                      <a:pt x="247650" y="61912"/>
                    </a:cubicBezTo>
                    <a:cubicBezTo>
                      <a:pt x="350230" y="61912"/>
                      <a:pt x="433388" y="145070"/>
                      <a:pt x="433388" y="247650"/>
                    </a:cubicBezTo>
                    <a:cubicBezTo>
                      <a:pt x="433388" y="350230"/>
                      <a:pt x="350230" y="433388"/>
                      <a:pt x="247650" y="433388"/>
                    </a:cubicBezTo>
                    <a:cubicBezTo>
                      <a:pt x="145070" y="433388"/>
                      <a:pt x="61912" y="350230"/>
                      <a:pt x="61912" y="24765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834390" y="2672715"/>
              <a:ext cx="144689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6A34A"/>
                  </a:solidFill>
                  <a:latin typeface="Arial"/>
                  <a:ea typeface="Microsoft YaHei"/>
                  <a:cs typeface="Arial"/>
                </a:rPr>
                <a:t>3-5 天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0108" y="3310414"/>
              <a:ext cx="11481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STM32 试点包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1060" y="3756660"/>
              <a:ext cx="19667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一个 Windows/STM32 台架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1060" y="40233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一个板卡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1060" y="42900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一条交付链路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1060" y="45567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先能失败留痕，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1060" y="482346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再谈规模化接入。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505200" y="1752600"/>
            <a:ext cx="8153400" cy="1223962"/>
            <a:chOff x="3505200" y="1752600"/>
            <a:chExt cx="8153400" cy="1223962"/>
          </a:xfrm>
        </p:grpSpPr>
        <p:sp>
          <p:nvSpPr>
            <p:cNvPr id="20" name="Rectangle 20"/>
            <p:cNvSpPr/>
            <p:nvPr/>
          </p:nvSpPr>
          <p:spPr>
            <a:xfrm>
              <a:off x="3505200" y="1752600"/>
              <a:ext cx="8153400" cy="1200150"/>
            </a:xfrm>
            <a:prstGeom prst="roundRect">
              <a:avLst>
                <a:gd name="adj" fmla="val 14286"/>
              </a:avLst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789045" y="19364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客户输入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94760" y="2346960"/>
              <a:ext cx="55911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固件仓库 · 构建命令 · 烧录方式 · 串口或协议接口 · 预期命令 · 硬件风险说明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3810000" y="2705100"/>
              <a:ext cx="7543800" cy="9525"/>
            </a:xfrm>
            <a:custGeom>
              <a:avLst/>
              <a:gdLst/>
              <a:ahLst/>
              <a:cxnLst/>
              <a:rect l="l" t="t" r="r" b="b"/>
              <a:pathLst>
                <a:path w="7543800" h="9525">
                  <a:moveTo>
                    <a:pt x="0" y="0"/>
                  </a:moveTo>
                  <a:lnTo>
                    <a:pt x="7543800" y="0"/>
                  </a:lnTo>
                </a:path>
              </a:pathLst>
            </a:custGeom>
            <a:noFill/>
            <a:ln w="9525">
              <a:solidFill>
                <a:srgbClr val="BFDBFE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796665" y="2763202"/>
              <a:ext cx="42481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目标：先把差异显式写进 adapter，而不是让流程里藏满项目假设。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649218" y="3638550"/>
            <a:ext cx="7827264" cy="1121569"/>
            <a:chOff x="3649218" y="3638550"/>
            <a:chExt cx="7827264" cy="1121569"/>
          </a:xfrm>
        </p:grpSpPr>
        <p:sp>
          <p:nvSpPr>
            <p:cNvPr id="26" name="Line 26"/>
            <p:cNvSpPr/>
            <p:nvPr/>
          </p:nvSpPr>
          <p:spPr>
            <a:xfrm>
              <a:off x="4000500" y="3905250"/>
              <a:ext cx="7124700" cy="9525"/>
            </a:xfrm>
            <a:custGeom>
              <a:avLst/>
              <a:gdLst/>
              <a:ahLst/>
              <a:cxnLst/>
              <a:rect l="l" t="t" r="r" b="b"/>
              <a:pathLst>
                <a:path w="7124700" h="9525">
                  <a:moveTo>
                    <a:pt x="0" y="0"/>
                  </a:moveTo>
                  <a:lnTo>
                    <a:pt x="7124700" y="0"/>
                  </a:lnTo>
                </a:path>
              </a:pathLst>
            </a:custGeom>
            <a:noFill/>
            <a:ln w="47625">
              <a:solidFill>
                <a:srgbClr val="0EA5E9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3649218" y="3638550"/>
              <a:ext cx="702564" cy="1121569"/>
              <a:chOff x="3649218" y="3638550"/>
              <a:chExt cx="702564" cy="1121569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3733800" y="3638550"/>
                <a:ext cx="533400" cy="533400"/>
              </a:xfrm>
              <a:prstGeom prst="ellipse">
                <a:avLst/>
              </a:prstGeom>
              <a:solidFill>
                <a:srgbClr val="0EA5E9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3913851" y="3842385"/>
                <a:ext cx="17329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D1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649218" y="43091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6232C"/>
                    </a:solidFill>
                    <a:latin typeface="Arial"/>
                    <a:ea typeface="Microsoft YaHei"/>
                    <a:cs typeface="Arial"/>
                  </a:rPr>
                  <a:t>构建脚本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728085" y="456199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B6B76"/>
                    </a:solidFill>
                    <a:latin typeface="Arial"/>
                    <a:ea typeface="Microsoft YaHei"/>
                    <a:cs typeface="Arial"/>
                  </a:rPr>
                  <a:t>产物发现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5430393" y="3638550"/>
              <a:ext cx="702564" cy="1121569"/>
              <a:chOff x="5430393" y="3638550"/>
              <a:chExt cx="702564" cy="1121569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5514975" y="3638550"/>
                <a:ext cx="533400" cy="533400"/>
              </a:xfrm>
              <a:prstGeom prst="ellipse">
                <a:avLst/>
              </a:prstGeom>
              <a:solidFill>
                <a:srgbClr val="0EA5E9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5674023" y="3842385"/>
                <a:ext cx="2153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D2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430393" y="43091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6232C"/>
                    </a:solidFill>
                    <a:latin typeface="Arial"/>
                    <a:ea typeface="Microsoft YaHei"/>
                    <a:cs typeface="Arial"/>
                  </a:rPr>
                  <a:t>烧录校验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441001" y="4561999"/>
                <a:ext cx="6813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B6B76"/>
                    </a:solidFill>
                    <a:latin typeface="Arial"/>
                    <a:ea typeface="Microsoft YaHei"/>
                    <a:cs typeface="Arial"/>
                  </a:rPr>
                  <a:t>reset 记录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085552" y="3638550"/>
              <a:ext cx="954596" cy="1121569"/>
              <a:chOff x="7085552" y="3638550"/>
              <a:chExt cx="954596" cy="1121569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7296150" y="3638550"/>
                <a:ext cx="533400" cy="533400"/>
              </a:xfrm>
              <a:prstGeom prst="ellipse">
                <a:avLst/>
              </a:prstGeom>
              <a:solidFill>
                <a:srgbClr val="16A34A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455198" y="3842385"/>
                <a:ext cx="2153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D3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085552" y="4309110"/>
                <a:ext cx="95459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6232C"/>
                    </a:solidFill>
                    <a:latin typeface="Arial"/>
                    <a:ea typeface="Microsoft YaHei"/>
                    <a:cs typeface="Arial"/>
                  </a:rPr>
                  <a:t>Shell smoke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290435" y="456199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B6B76"/>
                    </a:solidFill>
                    <a:latin typeface="Arial"/>
                    <a:ea typeface="Microsoft YaHei"/>
                    <a:cs typeface="Arial"/>
                  </a:rPr>
                  <a:t>串口证据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8992743" y="3638550"/>
              <a:ext cx="702564" cy="1121569"/>
              <a:chOff x="8992743" y="3638550"/>
              <a:chExt cx="702564" cy="1121569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9077325" y="3638550"/>
                <a:ext cx="533400" cy="5334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9236373" y="3842385"/>
                <a:ext cx="2153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D4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992743" y="43091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6232C"/>
                    </a:solidFill>
                    <a:latin typeface="Arial"/>
                    <a:ea typeface="Microsoft YaHei"/>
                    <a:cs typeface="Arial"/>
                  </a:rPr>
                  <a:t>协议检查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9071610" y="456199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B6B76"/>
                    </a:solidFill>
                    <a:latin typeface="Arial"/>
                    <a:ea typeface="Microsoft YaHei"/>
                    <a:cs typeface="Arial"/>
                  </a:rPr>
                  <a:t>失败留痕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10773918" y="3638550"/>
              <a:ext cx="702564" cy="1121569"/>
              <a:chOff x="10773918" y="3638550"/>
              <a:chExt cx="702564" cy="1121569"/>
            </a:xfrm>
          </p:grpSpPr>
          <p:sp>
            <p:nvSpPr>
              <p:cNvPr id="47" name="Ellipse 47"/>
              <p:cNvSpPr/>
              <p:nvPr/>
            </p:nvSpPr>
            <p:spPr>
              <a:xfrm>
                <a:off x="10858500" y="3638550"/>
                <a:ext cx="533400" cy="533400"/>
              </a:xfrm>
              <a:prstGeom prst="ellipse">
                <a:avLst/>
              </a:prstGeom>
              <a:solidFill>
                <a:srgbClr val="0B1F2A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11017548" y="3842385"/>
                <a:ext cx="2153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D5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0773918" y="43091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6232C"/>
                    </a:solidFill>
                    <a:latin typeface="Arial"/>
                    <a:ea typeface="Microsoft YaHei"/>
                    <a:cs typeface="Arial"/>
                  </a:rPr>
                  <a:t>交接复核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0852785" y="456199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B6B76"/>
                    </a:solidFill>
                    <a:latin typeface="Arial"/>
                    <a:ea typeface="Microsoft YaHei"/>
                    <a:cs typeface="Arial"/>
                  </a:rPr>
                  <a:t>报告模板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3505200" y="5162550"/>
            <a:ext cx="8153400" cy="545306"/>
            <a:chOff x="3505200" y="5162550"/>
            <a:chExt cx="8153400" cy="545306"/>
          </a:xfrm>
        </p:grpSpPr>
        <p:sp>
          <p:nvSpPr>
            <p:cNvPr id="53" name="Rectangle 53"/>
            <p:cNvSpPr/>
            <p:nvPr/>
          </p:nvSpPr>
          <p:spPr>
            <a:xfrm>
              <a:off x="3505200" y="5162550"/>
              <a:ext cx="8153400" cy="495300"/>
            </a:xfrm>
            <a:prstGeom prst="roundRect">
              <a:avLst>
                <a:gd name="adj" fmla="val 26923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795712" y="5250656"/>
              <a:ext cx="55717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6232C"/>
                  </a:solidFill>
                  <a:latin typeface="Consolas"/>
                  <a:ea typeface="Microsoft YaHei"/>
                  <a:cs typeface="Consolas"/>
                </a:rPr>
                <a:t>project-adapter.json · baseline script · 1-3 checks · failure-safe manifest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795712" y="5479256"/>
              <a:ext cx="5234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6232C"/>
                  </a:solidFill>
                  <a:latin typeface="Consolas"/>
                  <a:ea typeface="Microsoft YaHei"/>
                  <a:cs typeface="Consolas"/>
                </a:rPr>
                <a:t>handoff template · AI diagnosis prompt · human-review boundary notes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57" name="TextBox 57"/>
            <p:cNvSpPr txBox="1"/>
            <p:nvPr/>
          </p:nvSpPr>
          <p:spPr>
            <a:xfrm>
              <a:off x="521970" y="6246495"/>
              <a:ext cx="32572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Source: docs/adopt-it/README.zh-CN.md pilot package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09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5" grpId="0"/>
      <p:bldP spid="52" grpId="0"/>
      <p:bldP spid="5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385667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第一阶段要达成什么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7FAFF"/>
            </a:solidFill>
            <a:ln w="9525">
              <a:solidFill>
                <a:srgbClr val="BFDBFE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从看得懂，推进到信得过、试得起、接得上。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33400" y="1752600"/>
            <a:ext cx="3333750" cy="3771900"/>
            <a:chOff x="533400" y="1752600"/>
            <a:chExt cx="3333750" cy="3771900"/>
          </a:xfrm>
        </p:grpSpPr>
        <p:sp>
          <p:nvSpPr>
            <p:cNvPr id="8" name="Rectangle 8"/>
            <p:cNvSpPr/>
            <p:nvPr/>
          </p:nvSpPr>
          <p:spPr>
            <a:xfrm>
              <a:off x="533400" y="1752600"/>
              <a:ext cx="3333750" cy="3771900"/>
            </a:xfrm>
            <a:prstGeom prst="roundRect">
              <a:avLst>
                <a:gd name="adj" fmla="val 5143"/>
              </a:avLst>
            </a:prstGeom>
            <a:solidFill>
              <a:srgbClr val="0B1F2A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76300" y="2164556"/>
              <a:ext cx="495300" cy="433388"/>
              <a:chOff x="876300" y="2164556"/>
              <a:chExt cx="495300" cy="43338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247775" y="2164556"/>
                <a:ext cx="123825" cy="433388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433388">
                    <a:moveTo>
                      <a:pt x="123825" y="0"/>
                    </a:moveTo>
                    <a:lnTo>
                      <a:pt x="0" y="0"/>
                    </a:lnTo>
                    <a:lnTo>
                      <a:pt x="0" y="433388"/>
                    </a:lnTo>
                    <a:lnTo>
                      <a:pt x="123825" y="433388"/>
                    </a:lnTo>
                    <a:lnTo>
                      <a:pt x="12382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62038" y="2288381"/>
                <a:ext cx="123825" cy="309562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309562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09562"/>
                    </a:lnTo>
                    <a:lnTo>
                      <a:pt x="0" y="3095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76300" y="2412206"/>
                <a:ext cx="12382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85738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185738"/>
                    </a:lnTo>
                    <a:lnTo>
                      <a:pt x="0" y="1857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834390" y="2691765"/>
              <a:ext cx="938627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6A34A"/>
                  </a:solidFill>
                  <a:latin typeface="Arial"/>
                  <a:ea typeface="Microsoft YaHei"/>
                  <a:cs typeface="Arial"/>
                </a:rPr>
                <a:t>5 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5345" y="32699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提交主线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1060" y="38138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优先完善让外部读者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1060" y="409956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能判断、能试跑、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1060" y="438531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能迁移的材料。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6300" y="4972050"/>
              <a:ext cx="1790700" cy="323850"/>
            </a:xfrm>
            <a:prstGeom prst="roundRect">
              <a:avLst>
                <a:gd name="adj" fmla="val 50000"/>
              </a:avLst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70241" y="5068252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每次提交都有证据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171950" y="1752600"/>
            <a:ext cx="7486650" cy="3771900"/>
            <a:chOff x="4171950" y="1752600"/>
            <a:chExt cx="7486650" cy="3771900"/>
          </a:xfrm>
        </p:grpSpPr>
        <p:grpSp>
          <p:nvGrpSpPr>
            <p:cNvPr id="26" name="Group 26"/>
            <p:cNvGrpSpPr/>
            <p:nvPr/>
          </p:nvGrpSpPr>
          <p:grpSpPr>
            <a:xfrm>
              <a:off x="4171950" y="1752600"/>
              <a:ext cx="3429000" cy="1066800"/>
              <a:chOff x="4171950" y="1752600"/>
              <a:chExt cx="3429000" cy="10668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4171950" y="1752600"/>
                <a:ext cx="3429000" cy="1066800"/>
              </a:xfrm>
              <a:prstGeom prst="roundRect">
                <a:avLst>
                  <a:gd name="adj" fmla="val 14286"/>
                </a:avLst>
              </a:prstGeom>
              <a:solidFill>
                <a:srgbClr val="F7FAFF"/>
              </a:solidFill>
              <a:ln w="9525">
                <a:solidFill>
                  <a:srgbClr val="BFDBFE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171950" y="1752600"/>
                <a:ext cx="76200" cy="1066800"/>
              </a:xfrm>
              <a:prstGeom prst="rect">
                <a:avLst/>
              </a:prstGeom>
              <a:solidFill>
                <a:srgbClr val="0EA5E9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455795" y="193643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B1F2A"/>
                    </a:solidFill>
                    <a:latin typeface="Arial"/>
                    <a:ea typeface="Microsoft YaHei"/>
                    <a:cs typeface="Arial"/>
                  </a:rPr>
                  <a:t>入口清晰度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62462" y="2297906"/>
                <a:ext cx="279642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76"/>
                    </a:solidFill>
                    <a:latin typeface="Arial"/>
                    <a:ea typeface="Microsoft YaHei"/>
                    <a:cs typeface="Arial"/>
                  </a:rPr>
                  <a:t>中英文 landing page 的第一屏要更快说清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462462" y="2526506"/>
                <a:ext cx="229385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76"/>
                    </a:solidFill>
                    <a:latin typeface="Arial"/>
                    <a:ea typeface="Microsoft YaHei"/>
                    <a:cs typeface="Arial"/>
                  </a:rPr>
                  <a:t>Liakia 是工作流，不是单个固件。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7981950" y="1752600"/>
              <a:ext cx="3676650" cy="1066800"/>
              <a:chOff x="7981950" y="1752600"/>
              <a:chExt cx="3676650" cy="10668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7981950" y="1752600"/>
                <a:ext cx="3676650" cy="1066800"/>
              </a:xfrm>
              <a:prstGeom prst="roundRect">
                <a:avLst>
                  <a:gd name="adj" fmla="val 14286"/>
                </a:avLst>
              </a:prstGeom>
              <a:solidFill>
                <a:srgbClr val="F7FAFF"/>
              </a:solidFill>
              <a:ln w="9525">
                <a:solidFill>
                  <a:srgbClr val="BFDBFE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7981950" y="1752600"/>
                <a:ext cx="76200" cy="1066800"/>
              </a:xfrm>
              <a:prstGeom prst="rect">
                <a:avLst/>
              </a:prstGeom>
              <a:solidFill>
                <a:srgbClr val="16A34A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8265795" y="1936432"/>
                <a:ext cx="142808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B1F2A"/>
                    </a:solidFill>
                    <a:latin typeface="Arial"/>
                    <a:ea typeface="Microsoft YaHei"/>
                    <a:cs typeface="Arial"/>
                  </a:rPr>
                  <a:t>证据浏览体验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72462" y="2297906"/>
                <a:ext cx="227885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76"/>
                    </a:solidFill>
                    <a:latin typeface="Arial"/>
                    <a:ea typeface="Microsoft YaHei"/>
                    <a:cs typeface="Arial"/>
                  </a:rPr>
                  <a:t>让非仓库读者也能快速看懂清单、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272462" y="2526506"/>
                <a:ext cx="212883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76"/>
                    </a:solidFill>
                    <a:latin typeface="Arial"/>
                    <a:ea typeface="Microsoft YaHei"/>
                    <a:cs typeface="Arial"/>
                  </a:rPr>
                  <a:t>日志、摘要和交接报告的关系。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4171950" y="3086100"/>
              <a:ext cx="3429000" cy="1066800"/>
              <a:chOff x="4171950" y="3086100"/>
              <a:chExt cx="3429000" cy="10668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4171950" y="3086100"/>
                <a:ext cx="3429000" cy="1066800"/>
              </a:xfrm>
              <a:prstGeom prst="roundRect">
                <a:avLst>
                  <a:gd name="adj" fmla="val 14286"/>
                </a:avLst>
              </a:prstGeom>
              <a:solidFill>
                <a:srgbClr val="F7FAFF"/>
              </a:solidFill>
              <a:ln w="9525">
                <a:solidFill>
                  <a:srgbClr val="BFDBFE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4171950" y="3086100"/>
                <a:ext cx="76200" cy="1066800"/>
              </a:xfrm>
              <a:prstGeom prst="rect">
                <a:avLst/>
              </a:pr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4455795" y="326993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B1F2A"/>
                    </a:solidFill>
                    <a:latin typeface="Arial"/>
                    <a:ea typeface="Microsoft YaHei"/>
                    <a:cs typeface="Arial"/>
                  </a:rPr>
                  <a:t>流程可视化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462462" y="3631406"/>
                <a:ext cx="242887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76"/>
                    </a:solidFill>
                    <a:latin typeface="Arial"/>
                    <a:ea typeface="Microsoft YaHei"/>
                    <a:cs typeface="Arial"/>
                  </a:rPr>
                  <a:t>补构建、烧录、测试、证据的图示，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462462" y="3860006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76"/>
                    </a:solidFill>
                    <a:latin typeface="Arial"/>
                    <a:ea typeface="Microsoft YaHei"/>
                    <a:cs typeface="Arial"/>
                  </a:rPr>
                  <a:t>降低第一次理解成本。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7981950" y="3086100"/>
              <a:ext cx="3676650" cy="1066800"/>
              <a:chOff x="7981950" y="3086100"/>
              <a:chExt cx="3676650" cy="10668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7981950" y="3086100"/>
                <a:ext cx="3676650" cy="1066800"/>
              </a:xfrm>
              <a:prstGeom prst="roundRect">
                <a:avLst>
                  <a:gd name="adj" fmla="val 14286"/>
                </a:avLst>
              </a:prstGeom>
              <a:solidFill>
                <a:srgbClr val="F7FAFF"/>
              </a:solidFill>
              <a:ln w="9525">
                <a:solidFill>
                  <a:srgbClr val="BFDBFE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7981950" y="3086100"/>
                <a:ext cx="76200" cy="1066800"/>
              </a:xfrm>
              <a:prstGeom prst="rect">
                <a:avLst/>
              </a:prstGeom>
              <a:solidFill>
                <a:srgbClr val="0B1F2A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8265795" y="3269932"/>
                <a:ext cx="217892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B1F2A"/>
                    </a:solidFill>
                    <a:latin typeface="Arial"/>
                    <a:ea typeface="Microsoft YaHei"/>
                    <a:cs typeface="Arial"/>
                  </a:rPr>
                  <a:t>F103 案例和适配样例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72462" y="3631406"/>
                <a:ext cx="250388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76"/>
                    </a:solidFill>
                    <a:latin typeface="Arial"/>
                    <a:ea typeface="Microsoft YaHei"/>
                    <a:cs typeface="Arial"/>
                  </a:rPr>
                  <a:t>扩展 known-bad case 与常见 STM32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272462" y="3860006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76"/>
                    </a:solidFill>
                    <a:latin typeface="Arial"/>
                    <a:ea typeface="Microsoft YaHei"/>
                    <a:cs typeface="Arial"/>
                  </a:rPr>
                  <a:t>工程布局的适配示例。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4171950" y="4419600"/>
              <a:ext cx="7486650" cy="1104900"/>
              <a:chOff x="4171950" y="4419600"/>
              <a:chExt cx="7486650" cy="11049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4171950" y="4419600"/>
                <a:ext cx="7486650" cy="1104900"/>
              </a:xfrm>
              <a:prstGeom prst="roundRect">
                <a:avLst>
                  <a:gd name="adj" fmla="val 13793"/>
                </a:avLst>
              </a:prstGeom>
              <a:solidFill>
                <a:srgbClr val="DBEAFE"/>
              </a:solidFill>
              <a:ln w="9525">
                <a:solidFill>
                  <a:srgbClr val="BFDBFE"/>
                </a:solidFill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4498181" y="4724400"/>
                <a:ext cx="300037" cy="342900"/>
                <a:chOff x="4498181" y="4724400"/>
                <a:chExt cx="300037" cy="342900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4583906" y="4724400"/>
                  <a:ext cx="214312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57175">
                      <a:moveTo>
                        <a:pt x="128588" y="0"/>
                      </a:moveTo>
                      <a:lnTo>
                        <a:pt x="0" y="0"/>
                      </a:lnTo>
                      <a:lnTo>
                        <a:pt x="0" y="257175"/>
                      </a:lnTo>
                      <a:lnTo>
                        <a:pt x="214312" y="257175"/>
                      </a:lnTo>
                      <a:lnTo>
                        <a:pt x="214312" y="85725"/>
                      </a:lnTo>
                      <a:lnTo>
                        <a:pt x="128588" y="0"/>
                      </a:lnTo>
                      <a:close/>
                    </a:path>
                  </a:pathLst>
                </a:custGeom>
                <a:solidFill>
                  <a:srgbClr val="0B1F2A"/>
                </a:solidFill>
                <a:ln>
                  <a:noFill/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4498181" y="4810125"/>
                  <a:ext cx="214312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57175">
                      <a:moveTo>
                        <a:pt x="0" y="0"/>
                      </a:moveTo>
                      <a:lnTo>
                        <a:pt x="0" y="257175"/>
                      </a:lnTo>
                      <a:lnTo>
                        <a:pt x="214312" y="257175"/>
                      </a:lnTo>
                      <a:lnTo>
                        <a:pt x="214312" y="214312"/>
                      </a:lnTo>
                      <a:lnTo>
                        <a:pt x="42862" y="214312"/>
                      </a:lnTo>
                      <a:lnTo>
                        <a:pt x="4286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B1F2A"/>
                </a:solidFill>
                <a:ln>
                  <a:noFill/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5027295" y="464153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B1F2A"/>
                    </a:solidFill>
                    <a:latin typeface="Arial"/>
                    <a:ea typeface="Microsoft YaHei"/>
                    <a:cs typeface="Arial"/>
                  </a:rPr>
                  <a:t>试点材料包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5033962" y="4945856"/>
                <a:ext cx="217384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76"/>
                    </a:solidFill>
                    <a:latin typeface="Arial"/>
                    <a:ea typeface="Microsoft YaHei"/>
                    <a:cs typeface="Arial"/>
                  </a:rPr>
                  <a:t>输入清单 · 适配模板 · 交接报告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5033962" y="5193506"/>
                <a:ext cx="200132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76"/>
                    </a:solidFill>
                    <a:latin typeface="Arial"/>
                    <a:ea typeface="Microsoft YaHei"/>
                    <a:cs typeface="Arial"/>
                  </a:rPr>
                  <a:t>诊断提示词 · 问题与提交模板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521970" y="6246495"/>
            <a:ext cx="11062906" cy="182880"/>
            <a:chOff x="521970" y="6246495"/>
            <a:chExt cx="11062906" cy="182880"/>
          </a:xfrm>
        </p:grpSpPr>
        <p:sp>
          <p:nvSpPr>
            <p:cNvPr id="54" name="TextBox 54"/>
            <p:cNvSpPr txBox="1"/>
            <p:nvPr/>
          </p:nvSpPr>
          <p:spPr>
            <a:xfrm>
              <a:off x="521970" y="6246495"/>
              <a:ext cx="21531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Source: PR source roadmap summary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189970" y="624649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10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5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-571500"/>
            <a:ext cx="11639550" cy="6800850"/>
            <a:chOff x="533400" y="-571500"/>
            <a:chExt cx="11639550" cy="6800850"/>
          </a:xfrm>
        </p:grpSpPr>
        <p:sp>
          <p:nvSpPr>
            <p:cNvPr id="3" name="Ellipse 3"/>
            <p:cNvSpPr/>
            <p:nvPr/>
          </p:nvSpPr>
          <p:spPr>
            <a:xfrm>
              <a:off x="8553450" y="-571500"/>
              <a:ext cx="3619500" cy="3619500"/>
            </a:xfrm>
            <a:prstGeom prst="ellipse">
              <a:avLst/>
            </a:prstGeom>
            <a:solidFill>
              <a:srgbClr val="7C3AED">
                <a:alpha val="10000"/>
              </a:srgbClr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533400" y="5657850"/>
              <a:ext cx="11125200" cy="304800"/>
            </a:xfrm>
            <a:custGeom>
              <a:avLst/>
              <a:gdLst/>
              <a:ahLst/>
              <a:cxnLst/>
              <a:rect l="l" t="t" r="r" b="b"/>
              <a:pathLst>
                <a:path w="11125200" h="304800">
                  <a:moveTo>
                    <a:pt x="0" y="0"/>
                  </a:moveTo>
                  <a:lnTo>
                    <a:pt x="11125200" y="0"/>
                  </a:lnTo>
                  <a:lnTo>
                    <a:pt x="111252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0B1F2A"/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533400" y="6076950"/>
              <a:ext cx="4419600" cy="152400"/>
            </a:xfrm>
            <a:custGeom>
              <a:avLst/>
              <a:gdLst/>
              <a:ahLst/>
              <a:cxnLst/>
              <a:rect l="l" t="t" r="r" b="b"/>
              <a:pathLst>
                <a:path w="4419600" h="152400">
                  <a:moveTo>
                    <a:pt x="0" y="0"/>
                  </a:moveTo>
                  <a:lnTo>
                    <a:pt x="4419600" y="0"/>
                  </a:lnTo>
                  <a:lnTo>
                    <a:pt x="44196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481965" y="1441132"/>
            <a:ext cx="5206508" cy="1616393"/>
            <a:chOff x="481965" y="1441132"/>
            <a:chExt cx="5206508" cy="1616393"/>
          </a:xfrm>
        </p:grpSpPr>
        <p:sp>
          <p:nvSpPr>
            <p:cNvPr id="7" name="TextBox 7"/>
            <p:cNvSpPr txBox="1"/>
            <p:nvPr/>
          </p:nvSpPr>
          <p:spPr>
            <a:xfrm>
              <a:off x="512445" y="1441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7C3AED"/>
                  </a:solidFill>
                  <a:latin typeface="Arial"/>
                  <a:ea typeface="Microsoft YaHei"/>
                  <a:cs typeface="Arial"/>
                </a:rPr>
                <a:t>深入讲解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1965" y="1944052"/>
              <a:ext cx="5206508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深入讲解的四条主线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2450" y="2752725"/>
              <a:ext cx="46386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依次说明怎么做、怎么证明、怎么练习、怎么接入。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95350" y="3619500"/>
            <a:ext cx="10382250" cy="876300"/>
            <a:chOff x="895350" y="3619500"/>
            <a:chExt cx="10382250" cy="876300"/>
          </a:xfrm>
        </p:grpSpPr>
        <p:sp>
          <p:nvSpPr>
            <p:cNvPr id="11" name="Rectangle 11"/>
            <p:cNvSpPr/>
            <p:nvPr/>
          </p:nvSpPr>
          <p:spPr>
            <a:xfrm>
              <a:off x="895350" y="3619500"/>
              <a:ext cx="2381250" cy="876300"/>
            </a:xfrm>
            <a:prstGeom prst="roundRect">
              <a:avLst>
                <a:gd name="adj" fmla="val 17391"/>
              </a:avLst>
            </a:prstGeom>
            <a:solidFill>
              <a:srgbClr val="F9FBFC"/>
            </a:solidFill>
            <a:ln w="9525">
              <a:solidFill>
                <a:srgbClr val="CBD5E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41095" y="3784282"/>
              <a:ext cx="61948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12-20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6810" y="413766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工作流与证据契约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562350" y="3619500"/>
              <a:ext cx="2381250" cy="876300"/>
            </a:xfrm>
            <a:prstGeom prst="roundRect">
              <a:avLst>
                <a:gd name="adj" fmla="val 17391"/>
              </a:avLst>
            </a:prstGeom>
            <a:solidFill>
              <a:srgbClr val="F9FBFC"/>
            </a:solidFill>
            <a:ln w="9525">
              <a:solidFill>
                <a:srgbClr val="CBD5E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08095" y="3784282"/>
              <a:ext cx="61948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21-29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13810" y="413766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证据包与真实案例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229350" y="3619500"/>
              <a:ext cx="2381250" cy="876300"/>
            </a:xfrm>
            <a:prstGeom prst="roundRect">
              <a:avLst>
                <a:gd name="adj" fmla="val 17391"/>
              </a:avLst>
            </a:prstGeom>
            <a:solidFill>
              <a:srgbClr val="F9FBFC"/>
            </a:solidFill>
            <a:ln w="9525">
              <a:solidFill>
                <a:srgbClr val="CBD5E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75095" y="3784282"/>
              <a:ext cx="6772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30-38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80810" y="41376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学习实验与助手边界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896350" y="3619500"/>
              <a:ext cx="2381250" cy="876300"/>
            </a:xfrm>
            <a:prstGeom prst="roundRect">
              <a:avLst>
                <a:gd name="adj" fmla="val 17391"/>
              </a:avLst>
            </a:prstGeom>
            <a:solidFill>
              <a:srgbClr val="F9FBFC"/>
            </a:solidFill>
            <a:ln w="9525">
              <a:solidFill>
                <a:srgbClr val="CBD5E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42095" y="3784282"/>
              <a:ext cx="6772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39-48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47810" y="41376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接入设计与提交计划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21970" y="6246495"/>
            <a:ext cx="11032903" cy="182880"/>
            <a:chOff x="521970" y="6246495"/>
            <a:chExt cx="11032903" cy="182880"/>
          </a:xfrm>
        </p:grpSpPr>
        <p:sp>
          <p:nvSpPr>
            <p:cNvPr id="24" name="TextBox 24"/>
            <p:cNvSpPr txBox="1"/>
            <p:nvPr/>
          </p:nvSpPr>
          <p:spPr>
            <a:xfrm>
              <a:off x="521970" y="6246495"/>
              <a:ext cx="14930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Deep-dive section divider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89970" y="6246495"/>
              <a:ext cx="364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11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427672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主线一：先定设计原则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6FFFC"/>
            </a:solidFill>
            <a:ln w="9525">
              <a:solidFill>
                <a:srgbClr val="99F6E4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证据优先、最小改动、人工确认边界。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533400" y="1752600"/>
            <a:ext cx="11125200" cy="3714750"/>
            <a:chOff x="533400" y="1752600"/>
            <a:chExt cx="11125200" cy="3714750"/>
          </a:xfrm>
        </p:grpSpPr>
        <p:sp>
          <p:nvSpPr>
            <p:cNvPr id="8" name="Rectangle 8"/>
            <p:cNvSpPr/>
            <p:nvPr/>
          </p:nvSpPr>
          <p:spPr>
            <a:xfrm>
              <a:off x="533400" y="1752600"/>
              <a:ext cx="3429000" cy="3714750"/>
            </a:xfrm>
            <a:prstGeom prst="roundRect">
              <a:avLst>
                <a:gd name="adj" fmla="val 4444"/>
              </a:avLst>
            </a:prstGeom>
            <a:solidFill>
              <a:srgbClr val="F6FFFC"/>
            </a:solidFill>
            <a:ln w="9525">
              <a:solidFill>
                <a:srgbClr val="99F6E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7245" y="1993582"/>
              <a:ext cx="281425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原则一：所有判断要有出处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2960" y="24803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每个结论最好能落到日志、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2960" y="276606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清单、摘要或脚本退出码。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2960" y="3051810"/>
              <a:ext cx="26068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没有证据的“应该好了”不进入交付。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81500" y="1752600"/>
              <a:ext cx="3429000" cy="3714750"/>
            </a:xfrm>
            <a:prstGeom prst="roundRect">
              <a:avLst>
                <a:gd name="adj" fmla="val 4444"/>
              </a:avLst>
            </a:prstGeom>
            <a:solidFill>
              <a:srgbClr val="F6FFFC"/>
            </a:solidFill>
            <a:ln w="9525">
              <a:solidFill>
                <a:srgbClr val="99F6E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65345" y="1993582"/>
              <a:ext cx="281425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原则二：失败也必须产物化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71060" y="2480310"/>
              <a:ext cx="23107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失败 run 不能只留下口头描述。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71060" y="2766060"/>
              <a:ext cx="25027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失败位置、输入、端口、commit、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71060" y="305181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环境和后续假设都应该被记录。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229600" y="1752600"/>
              <a:ext cx="3429000" cy="3714750"/>
            </a:xfrm>
            <a:prstGeom prst="roundRect">
              <a:avLst>
                <a:gd name="adj" fmla="val 4444"/>
              </a:avLst>
            </a:prstGeom>
            <a:solidFill>
              <a:srgbClr val="F6FFFC"/>
            </a:solidFill>
            <a:ln w="9525">
              <a:solidFill>
                <a:srgbClr val="99F6E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13445" y="1993582"/>
              <a:ext cx="281425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原则三：危险动作由人授权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19160" y="2480310"/>
              <a:ext cx="27428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reset、erase、save、bootloader、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19160" y="276606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寄存器写入和硬件风险动作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19160" y="30518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都不应该被助手越权执行。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21970" y="6246495"/>
            <a:ext cx="11062906" cy="182880"/>
            <a:chOff x="521970" y="6246495"/>
            <a:chExt cx="11062906" cy="182880"/>
          </a:xfrm>
        </p:grpSpPr>
        <p:sp>
          <p:nvSpPr>
            <p:cNvPr id="24" name="TextBox 24"/>
            <p:cNvSpPr txBox="1"/>
            <p:nvPr/>
          </p:nvSpPr>
          <p:spPr>
            <a:xfrm>
              <a:off x="521970" y="6246495"/>
              <a:ext cx="16970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Design principles for v2 deck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89970" y="624649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12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469677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一次运行必须被定义清楚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6FFFC"/>
            </a:solidFill>
            <a:ln w="9525">
              <a:solidFill>
                <a:srgbClr val="99F6E4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输入、动作、结果、证据和边界都要写明。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33400" y="1714500"/>
            <a:ext cx="11125200" cy="3810000"/>
            <a:chOff x="533400" y="1714500"/>
            <a:chExt cx="11125200" cy="3810000"/>
          </a:xfrm>
        </p:grpSpPr>
        <p:sp>
          <p:nvSpPr>
            <p:cNvPr id="8" name="Rectangle 8"/>
            <p:cNvSpPr/>
            <p:nvPr/>
          </p:nvSpPr>
          <p:spPr>
            <a:xfrm>
              <a:off x="533400" y="1714500"/>
              <a:ext cx="11125200" cy="3810000"/>
            </a:xfrm>
            <a:prstGeom prst="roundRect">
              <a:avLst>
                <a:gd name="adj" fmla="val 4500"/>
              </a:avLst>
            </a:prstGeom>
            <a:solidFill>
              <a:srgbClr val="F6FFFC"/>
            </a:solidFill>
            <a:ln w="9525">
              <a:solidFill>
                <a:srgbClr val="99F6E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3445" y="201263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五个必须回答的问题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914400" y="2438400"/>
              <a:ext cx="10363200" cy="9525"/>
            </a:xfrm>
            <a:custGeom>
              <a:avLst/>
              <a:gdLst/>
              <a:ahLst/>
              <a:cxnLst/>
              <a:rect l="l" t="t" r="r" b="b"/>
              <a:pathLst>
                <a:path w="10363200" h="9525">
                  <a:moveTo>
                    <a:pt x="0" y="0"/>
                  </a:moveTo>
                  <a:lnTo>
                    <a:pt x="10363200" y="0"/>
                  </a:lnTo>
                </a:path>
              </a:pathLst>
            </a:custGeom>
            <a:noFill/>
            <a:ln w="9525">
              <a:solidFill>
                <a:srgbClr val="99F6E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99160" y="2823210"/>
              <a:ext cx="48470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1. 当前运行对应哪个 branch、commit、构建 preset 和硬件端口？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9160" y="3299460"/>
              <a:ext cx="46950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2. 构建、烧录、串口、协议、reset、寄存器快照分别是否执行？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9160" y="3775710"/>
              <a:ext cx="34549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3. 每一步的通过、失败或跳过是否有日志支撑？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9160" y="4251960"/>
              <a:ext cx="49270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4. 如果失败，证据包能不能定位到“哪一步失败”和“下一步查什么”？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9160" y="4728210"/>
              <a:ext cx="36149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5. 是否存在需要人工确认的危险动作或硬件假设？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21970" y="6246495"/>
            <a:ext cx="11062906" cy="182880"/>
            <a:chOff x="521970" y="6246495"/>
            <a:chExt cx="11062906" cy="182880"/>
          </a:xfrm>
        </p:grpSpPr>
        <p:sp>
          <p:nvSpPr>
            <p:cNvPr id="17" name="TextBox 17"/>
            <p:cNvSpPr txBox="1"/>
            <p:nvPr/>
          </p:nvSpPr>
          <p:spPr>
            <a:xfrm>
              <a:off x="521970" y="6246495"/>
              <a:ext cx="1277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Run contract framing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189970" y="624649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13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385667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构建阶段：入口固定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6FFFC"/>
            </a:solidFill>
            <a:ln w="9525">
              <a:solidFill>
                <a:srgbClr val="99F6E4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先固定工具链、目录、命令和产物。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33400" y="1752600"/>
            <a:ext cx="11125200" cy="3714750"/>
            <a:chOff x="533400" y="1752600"/>
            <a:chExt cx="11125200" cy="3714750"/>
          </a:xfrm>
        </p:grpSpPr>
        <p:sp>
          <p:nvSpPr>
            <p:cNvPr id="8" name="Rectangle 8"/>
            <p:cNvSpPr/>
            <p:nvPr/>
          </p:nvSpPr>
          <p:spPr>
            <a:xfrm>
              <a:off x="533400" y="1752600"/>
              <a:ext cx="5143500" cy="3714750"/>
            </a:xfrm>
            <a:prstGeom prst="roundRect">
              <a:avLst>
                <a:gd name="adj" fmla="val 4103"/>
              </a:avLst>
            </a:prstGeom>
            <a:solidFill>
              <a:srgbClr val="F6FFFC"/>
            </a:solidFill>
            <a:ln w="9525">
              <a:solidFill>
                <a:srgbClr val="99F6E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6295" y="19935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构建证据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2010" y="2518410"/>
              <a:ext cx="17666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• 工具链版本和环境变量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2010" y="2842260"/>
              <a:ext cx="16066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• 构建命令和工作目录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010" y="3166110"/>
              <a:ext cx="20627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• warning、error 和退出码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010" y="3489960"/>
              <a:ext cx="16066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• ELF、HEX、BIN 大小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2010" y="3813810"/>
              <a:ext cx="13826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• 固件产物 SHA256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134100" y="1752600"/>
              <a:ext cx="5524500" cy="3714750"/>
            </a:xfrm>
            <a:prstGeom prst="roundRect">
              <a:avLst>
                <a:gd name="adj" fmla="val 4103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15100" y="2085975"/>
              <a:ext cx="37785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workflow-template/run_workflow.ps1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15100" y="2543175"/>
              <a:ext cx="270843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9D7DF"/>
                  </a:solidFill>
                  <a:latin typeface="Consolas"/>
                  <a:ea typeface="Microsoft YaHei"/>
                  <a:cs typeface="Consolas"/>
                </a:rPr>
                <a:t>-使用 project-adapter.json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15100" y="3000375"/>
              <a:ext cx="12082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9D7DF"/>
                  </a:solidFill>
                  <a:latin typeface="Consolas"/>
                  <a:ea typeface="Microsoft YaHei"/>
                  <a:cs typeface="Consolas"/>
                </a:rPr>
                <a:t>-Stage build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534150" y="35623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38100">
              <a:solidFill>
                <a:srgbClr val="0EA5E9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18910" y="3870960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讲解重点：先固定构建入口。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18910" y="4175760"/>
              <a:ext cx="35509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稳定、可复查、可交接，比覆盖更多测试更重要。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21970" y="6246495"/>
            <a:ext cx="11062906" cy="182880"/>
            <a:chOff x="521970" y="6246495"/>
            <a:chExt cx="11062906" cy="182880"/>
          </a:xfrm>
        </p:grpSpPr>
        <p:sp>
          <p:nvSpPr>
            <p:cNvPr id="23" name="TextBox 23"/>
            <p:cNvSpPr txBox="1"/>
            <p:nvPr/>
          </p:nvSpPr>
          <p:spPr>
            <a:xfrm>
              <a:off x="521970" y="6246495"/>
              <a:ext cx="13910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Adapt docs: build stage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189970" y="624649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14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385667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烧录阶段：动作留痕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6FFFC"/>
            </a:solidFill>
            <a:ln w="9525">
              <a:solidFill>
                <a:srgbClr val="99F6E4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记录连接参数、校验结果、复位方式和失败日志。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33400" y="1752600"/>
            <a:ext cx="11125200" cy="3714750"/>
            <a:chOff x="533400" y="1752600"/>
            <a:chExt cx="11125200" cy="3714750"/>
          </a:xfrm>
        </p:grpSpPr>
        <p:sp>
          <p:nvSpPr>
            <p:cNvPr id="8" name="Rectangle 8"/>
            <p:cNvSpPr/>
            <p:nvPr/>
          </p:nvSpPr>
          <p:spPr>
            <a:xfrm>
              <a:off x="533400" y="1752600"/>
              <a:ext cx="3429000" cy="3714750"/>
            </a:xfrm>
            <a:prstGeom prst="roundRect">
              <a:avLst>
                <a:gd name="adj" fmla="val 4444"/>
              </a:avLst>
            </a:prstGeom>
            <a:solidFill>
              <a:srgbClr val="F6FFFC"/>
            </a:solidFill>
            <a:ln w="9525">
              <a:solidFill>
                <a:srgbClr val="99F6E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5340" y="1872615"/>
              <a:ext cx="1007936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烧录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1058" y="2586514"/>
              <a:ext cx="163908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需要留下的不是截图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2010" y="2975610"/>
              <a:ext cx="19907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而是完整 CLI transcript、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010" y="3261360"/>
              <a:ext cx="20147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verify 结果、reset 行为、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010" y="35471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工具版本和目标信息。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381500" y="1752600"/>
              <a:ext cx="7277100" cy="3714750"/>
            </a:xfrm>
            <a:prstGeom prst="roundRect">
              <a:avLst>
                <a:gd name="adj" fmla="val 4103"/>
              </a:avLst>
            </a:prstGeom>
            <a:solidFill>
              <a:srgbClr val="F6FFFC"/>
            </a:solidFill>
            <a:ln w="9525">
              <a:solidFill>
                <a:srgbClr val="99F6E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41545" y="206978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评审时看三件事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47260" y="2651760"/>
              <a:ext cx="42150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1. connect 参数是否明确，例如 port=SWD、freq=4000。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47260" y="3204210"/>
              <a:ext cx="37909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2. verify=true 是否实际执行，并在日志里有结果。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47260" y="3756660"/>
              <a:ext cx="36309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3. reset 是否是预期 reset，而不是隐式副作用。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47260" y="4499610"/>
              <a:ext cx="53271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这页在现场讲解时强调：硬件动作越关键，越不能只依赖“我刚才点过了”。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21970" y="6246495"/>
            <a:ext cx="11062906" cy="182880"/>
            <a:chOff x="521970" y="6246495"/>
            <a:chExt cx="11062906" cy="182880"/>
          </a:xfrm>
        </p:grpSpPr>
        <p:sp>
          <p:nvSpPr>
            <p:cNvPr id="21" name="TextBox 21"/>
            <p:cNvSpPr txBox="1"/>
            <p:nvPr/>
          </p:nvSpPr>
          <p:spPr>
            <a:xfrm>
              <a:off x="521970" y="6246495"/>
              <a:ext cx="14210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Adapt docs: flash stage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89970" y="624649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15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385667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串口阶段：证明可控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6FFFC"/>
            </a:solidFill>
            <a:ln w="9525">
              <a:solidFill>
                <a:srgbClr val="99F6E4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用最小命令证明固件活着，并且能被控制。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33400" y="1752600"/>
            <a:ext cx="11125200" cy="3714750"/>
            <a:chOff x="533400" y="1752600"/>
            <a:chExt cx="11125200" cy="3714750"/>
          </a:xfrm>
        </p:grpSpPr>
        <p:sp>
          <p:nvSpPr>
            <p:cNvPr id="8" name="Rectangle 8"/>
            <p:cNvSpPr/>
            <p:nvPr/>
          </p:nvSpPr>
          <p:spPr>
            <a:xfrm>
              <a:off x="533400" y="1752600"/>
              <a:ext cx="11125200" cy="3714750"/>
            </a:xfrm>
            <a:prstGeom prst="roundRect">
              <a:avLst>
                <a:gd name="adj" fmla="val 4103"/>
              </a:avLst>
            </a:prstGeom>
            <a:solidFill>
              <a:srgbClr val="F6FFFC"/>
            </a:solidFill>
            <a:ln w="9525">
              <a:solidFill>
                <a:srgbClr val="99F6E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31545" y="208883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五类最小检查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952500" y="25146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99F6E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7260" y="2880360"/>
              <a:ext cx="34629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version：返回项目名、版本、MCU、构建信息。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7260" y="3356610"/>
              <a:ext cx="41189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status：返回任务、uptime、接口状态或核心健康信息。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7260" y="3832860"/>
              <a:ext cx="35589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config：返回当前持久化配置，证明读路径稳定。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7260" y="4309110"/>
              <a:ext cx="37829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invalid input：无效命令必须被拒绝，Shell 不崩溃。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7260" y="4785360"/>
              <a:ext cx="37589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reset recovery：软件复位后 Shell 仍能重新响应。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21970" y="6246495"/>
            <a:ext cx="11062906" cy="182880"/>
            <a:chOff x="521970" y="6246495"/>
            <a:chExt cx="11062906" cy="182880"/>
          </a:xfrm>
        </p:grpSpPr>
        <p:sp>
          <p:nvSpPr>
            <p:cNvPr id="17" name="TextBox 17"/>
            <p:cNvSpPr txBox="1"/>
            <p:nvPr/>
          </p:nvSpPr>
          <p:spPr>
            <a:xfrm>
              <a:off x="521970" y="6246495"/>
              <a:ext cx="15230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Adapt docs: serial checks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189970" y="624649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16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469677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协议阶段：验证业务正确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6FFFC"/>
            </a:solidFill>
            <a:ln w="9525">
              <a:solidFill>
                <a:srgbClr val="99F6E4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把协议数据的正确性做成自动检查。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33400" y="1752600"/>
            <a:ext cx="11125200" cy="3714750"/>
            <a:chOff x="533400" y="1752600"/>
            <a:chExt cx="11125200" cy="3714750"/>
          </a:xfrm>
        </p:grpSpPr>
        <p:sp>
          <p:nvSpPr>
            <p:cNvPr id="8" name="Rectangle 8"/>
            <p:cNvSpPr/>
            <p:nvPr/>
          </p:nvSpPr>
          <p:spPr>
            <a:xfrm>
              <a:off x="533400" y="1752600"/>
              <a:ext cx="5143500" cy="3714750"/>
            </a:xfrm>
            <a:prstGeom prst="roundRect">
              <a:avLst>
                <a:gd name="adj" fmla="val 4103"/>
              </a:avLst>
            </a:prstGeom>
            <a:solidFill>
              <a:srgbClr val="F6FFFC"/>
            </a:solidFill>
            <a:ln w="9525">
              <a:solidFill>
                <a:srgbClr val="99F6E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6295" y="2050732"/>
              <a:ext cx="112774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RTCM 示例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8200" y="256222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6232C"/>
                  </a:solidFill>
                  <a:latin typeface="Consolas"/>
                  <a:ea typeface="Microsoft YaHei"/>
                  <a:cs typeface="Consolas"/>
                </a:rPr>
                <a:t>Read bytes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8200" y="3019425"/>
              <a:ext cx="190833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6232C"/>
                  </a:solidFill>
                  <a:latin typeface="Consolas"/>
                  <a:ea typeface="Microsoft YaHei"/>
                  <a:cs typeface="Consolas"/>
                </a:rPr>
                <a:t>Total frames found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8200" y="3476625"/>
              <a:ext cx="68818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6A34A"/>
                  </a:solidFill>
                  <a:latin typeface="Consolas"/>
                  <a:ea typeface="Microsoft YaHei"/>
                  <a:cs typeface="Consolas"/>
                </a:rPr>
                <a:t>CRC OK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8200" y="3933825"/>
              <a:ext cx="10982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CRC BAD = 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2010" y="4556760"/>
              <a:ext cx="4511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关键点：不是打印日志给人看，而是让错误输出直接导致失败。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134100" y="1752600"/>
              <a:ext cx="5524500" cy="3714750"/>
            </a:xfrm>
            <a:prstGeom prst="roundRect">
              <a:avLst>
                <a:gd name="adj" fmla="val 4103"/>
              </a:avLst>
            </a:prstGeom>
            <a:solidFill>
              <a:srgbClr val="F6FFFC"/>
            </a:solidFill>
            <a:ln w="9525">
              <a:solidFill>
                <a:srgbClr val="99F6E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94145" y="2050732"/>
              <a:ext cx="189014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可迁移到哪些检查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99860" y="2594610"/>
              <a:ext cx="29908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• 传感器网关：帧数、CRC、时间戳单调性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99860" y="2918460"/>
              <a:ext cx="31268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• 电机控制器：命令响应、fault、限流状态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99860" y="3242310"/>
              <a:ext cx="29668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• 工业 I/O：Modbus request/response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99860" y="3566160"/>
              <a:ext cx="32788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• 飞控外设：telemetry packet、heartbeat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99860" y="3890010"/>
              <a:ext cx="25587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• GNSS / RTK：消息类型覆盖和 CRC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21970" y="6246495"/>
            <a:ext cx="11062906" cy="182880"/>
            <a:chOff x="521970" y="6246495"/>
            <a:chExt cx="11062906" cy="182880"/>
          </a:xfrm>
        </p:grpSpPr>
        <p:sp>
          <p:nvSpPr>
            <p:cNvPr id="23" name="TextBox 23"/>
            <p:cNvSpPr txBox="1"/>
            <p:nvPr/>
          </p:nvSpPr>
          <p:spPr>
            <a:xfrm>
              <a:off x="521970" y="6246495"/>
              <a:ext cx="16850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Adapt docs: protocol checks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189970" y="624649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17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511683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寄存器阶段：保留底层线索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6FFFC"/>
            </a:solidFill>
            <a:ln w="9525">
              <a:solidFill>
                <a:srgbClr val="99F6E4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只读快照辅助判断外设和异常状态。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533400" y="1752600"/>
            <a:ext cx="11125200" cy="3714750"/>
            <a:chOff x="533400" y="1752600"/>
            <a:chExt cx="11125200" cy="3714750"/>
          </a:xfrm>
        </p:grpSpPr>
        <p:sp>
          <p:nvSpPr>
            <p:cNvPr id="8" name="Rectangle 8"/>
            <p:cNvSpPr/>
            <p:nvPr/>
          </p:nvSpPr>
          <p:spPr>
            <a:xfrm>
              <a:off x="533400" y="1752600"/>
              <a:ext cx="3429000" cy="3714750"/>
            </a:xfrm>
            <a:prstGeom prst="roundRect">
              <a:avLst>
                <a:gd name="adj" fmla="val 4444"/>
              </a:avLst>
            </a:prstGeom>
            <a:solidFill>
              <a:srgbClr val="F6FFFC"/>
            </a:solidFill>
            <a:ln w="9525">
              <a:solidFill>
                <a:srgbClr val="99F6E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6295" y="20697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第一批目标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2010" y="2594610"/>
              <a:ext cx="11106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CPU fault 状态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2010" y="2899410"/>
              <a:ext cx="9185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reset flags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010" y="3204210"/>
              <a:ext cx="12786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RCC clock enable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010" y="3509010"/>
              <a:ext cx="11666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GPIO mode / AF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2010" y="3813810"/>
              <a:ext cx="18627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USART / SPI / I2C status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2010" y="4118610"/>
              <a:ext cx="15826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USB state registers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381500" y="1752600"/>
              <a:ext cx="7277100" cy="3714750"/>
            </a:xfrm>
            <a:prstGeom prst="roundRect">
              <a:avLst>
                <a:gd name="adj" fmla="val 4103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741545" y="210788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边界必须说清楚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47260" y="27089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公开模板只做只读采集。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47260" y="320421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任何寄存器写入都应视为高风险操作。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47260" y="3699510"/>
              <a:ext cx="46710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助手可以解释快照和提出假设，但不能绕过人工批准执行写操作。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762500" y="4476750"/>
              <a:ext cx="2000250" cy="40005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17306" y="4613910"/>
              <a:ext cx="12906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read-only first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21970" y="6246495"/>
            <a:ext cx="11062906" cy="182880"/>
            <a:chOff x="521970" y="6246495"/>
            <a:chExt cx="11062906" cy="182880"/>
          </a:xfrm>
        </p:grpSpPr>
        <p:sp>
          <p:nvSpPr>
            <p:cNvPr id="24" name="TextBox 24"/>
            <p:cNvSpPr txBox="1"/>
            <p:nvPr/>
          </p:nvSpPr>
          <p:spPr>
            <a:xfrm>
              <a:off x="521970" y="6246495"/>
              <a:ext cx="17870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Adapt docs: register evidence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89970" y="624649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18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469677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7C3AED"/>
                  </a:solidFill>
                  <a:latin typeface="Arial"/>
                  <a:ea typeface="Microsoft YaHei"/>
                  <a:cs typeface="Arial"/>
                </a:rPr>
                <a:t>主线二：证据包如何组织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BFAFF"/>
            </a:solidFill>
            <a:ln w="9525">
              <a:solidFill>
                <a:srgbClr val="DDD6FE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把运行上下文、结果和判断放到同一目录。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33400" y="1752600"/>
            <a:ext cx="11125200" cy="3714750"/>
            <a:chOff x="533400" y="1752600"/>
            <a:chExt cx="11125200" cy="3714750"/>
          </a:xfrm>
        </p:grpSpPr>
        <p:sp>
          <p:nvSpPr>
            <p:cNvPr id="8" name="Rectangle 8"/>
            <p:cNvSpPr/>
            <p:nvPr/>
          </p:nvSpPr>
          <p:spPr>
            <a:xfrm>
              <a:off x="533400" y="1752600"/>
              <a:ext cx="4953000" cy="3714750"/>
            </a:xfrm>
            <a:prstGeom prst="roundRect">
              <a:avLst>
                <a:gd name="adj" fmla="val 4103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5350" y="208597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evidence-out/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83005" y="2483168"/>
              <a:ext cx="12674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D7DF"/>
                  </a:solidFill>
                  <a:latin typeface="Consolas"/>
                  <a:ea typeface="Microsoft YaHei"/>
                  <a:cs typeface="Consolas"/>
                </a:rPr>
                <a:t>manifest.json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83005" y="2864168"/>
              <a:ext cx="12404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D7DF"/>
                  </a:solidFill>
                  <a:latin typeface="Consolas"/>
                  <a:ea typeface="Microsoft YaHei"/>
                  <a:cs typeface="Consolas"/>
                </a:rPr>
                <a:t>logs/build.log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83005" y="3245168"/>
              <a:ext cx="12854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D7DF"/>
                  </a:solidFill>
                  <a:latin typeface="Consolas"/>
                  <a:ea typeface="Microsoft YaHei"/>
                  <a:cs typeface="Consolas"/>
                </a:rPr>
                <a:t>logs/flash.log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83005" y="3626168"/>
              <a:ext cx="12404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D7DF"/>
                  </a:solidFill>
                  <a:latin typeface="Consolas"/>
                  <a:ea typeface="Microsoft YaHei"/>
                  <a:cs typeface="Consolas"/>
                </a:rPr>
                <a:t>logs/shell.log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83005" y="4007168"/>
              <a:ext cx="160048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D7DF"/>
                  </a:solidFill>
                  <a:latin typeface="Consolas"/>
                  <a:ea typeface="Microsoft YaHei"/>
                  <a:cs typeface="Consolas"/>
                </a:rPr>
                <a:t>summaries/*.json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83005" y="4388168"/>
              <a:ext cx="17535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A34A"/>
                  </a:solidFill>
                  <a:latin typeface="Consolas"/>
                  <a:ea typeface="Microsoft YaHei"/>
                  <a:cs typeface="Consolas"/>
                </a:rPr>
                <a:t>handoff_report.md</a:t>
              </a:r>
            </a:p>
          </p:txBody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rcRect l="6419" t="0" r="6419" b="0"/>
            <a:stretch>
              <a:fillRect/>
            </a:stretch>
          </p:blipFill>
          <p:spPr>
            <a:xfrm>
              <a:off x="5905500" y="1752600"/>
              <a:ext cx="5753100" cy="3714750"/>
            </a:xfrm>
            <a:prstGeom prst="rect">
              <a:avLst/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5905500" y="1752600"/>
              <a:ext cx="5753100" cy="3714750"/>
            </a:xfrm>
            <a:prstGeom prst="roundRect">
              <a:avLst>
                <a:gd name="adj" fmla="val 4103"/>
              </a:avLst>
            </a:prstGeom>
            <a:solidFill>
              <a:srgbClr val="FFFFFF">
                <a:alpha val="0"/>
              </a:srgbClr>
            </a:solidFill>
            <a:ln w="19050">
              <a:solidFill>
                <a:srgbClr val="DDD6F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191250" y="4343400"/>
              <a:ext cx="5181600" cy="742950"/>
            </a:xfrm>
            <a:prstGeom prst="roundRect">
              <a:avLst>
                <a:gd name="adj" fmla="val 23077"/>
              </a:avLst>
            </a:prstGeom>
            <a:solidFill>
              <a:srgbClr val="0B1F2A">
                <a:alpha val="80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56045" y="4489132"/>
              <a:ext cx="189014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失败证据更有价值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61760" y="4804410"/>
              <a:ext cx="49911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它能说明哪一步失败、保留输入环境，并给助手和工程师同一份材料。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1970" y="6246495"/>
            <a:ext cx="11062906" cy="182880"/>
            <a:chOff x="521970" y="6246495"/>
            <a:chExt cx="11062906" cy="182880"/>
          </a:xfrm>
        </p:grpSpPr>
        <p:sp>
          <p:nvSpPr>
            <p:cNvPr id="22" name="TextBox 22"/>
            <p:cNvSpPr txBox="1"/>
            <p:nvPr/>
          </p:nvSpPr>
          <p:spPr>
            <a:xfrm>
              <a:off x="521970" y="6246495"/>
              <a:ext cx="17510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Adapt docs: evidence package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89970" y="624649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19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427672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7C3AED"/>
                  </a:solidFill>
                  <a:latin typeface="Arial"/>
                  <a:ea typeface="Microsoft YaHei"/>
                  <a:cs typeface="Arial"/>
                </a:rPr>
                <a:t>运行清单：先找到事实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BFAFF"/>
            </a:solidFill>
            <a:ln w="9525">
              <a:solidFill>
                <a:srgbClr val="DDD6FE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先知道这次运行是谁、在哪、做了什么。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33400" y="1752600"/>
            <a:ext cx="11125200" cy="3714750"/>
            <a:chOff x="533400" y="1752600"/>
            <a:chExt cx="11125200" cy="3714750"/>
          </a:xfrm>
        </p:grpSpPr>
        <p:sp>
          <p:nvSpPr>
            <p:cNvPr id="8" name="Rectangle 8"/>
            <p:cNvSpPr/>
            <p:nvPr/>
          </p:nvSpPr>
          <p:spPr>
            <a:xfrm>
              <a:off x="533400" y="1752600"/>
              <a:ext cx="3429000" cy="3714750"/>
            </a:xfrm>
            <a:prstGeom prst="roundRect">
              <a:avLst>
                <a:gd name="adj" fmla="val 4444"/>
              </a:avLst>
            </a:prstGeom>
            <a:solidFill>
              <a:srgbClr val="FBFAFF"/>
            </a:solidFill>
            <a:ln w="9525">
              <a:solidFill>
                <a:srgbClr val="DDD6FE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6295" y="206978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上下文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2010" y="2594610"/>
              <a:ext cx="12946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branch / commit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2010" y="2918460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preset / build dir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010" y="3242310"/>
              <a:ext cx="8465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COM ports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010" y="3566160"/>
              <a:ext cx="10066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test options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2010" y="3890010"/>
              <a:ext cx="8465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timestamp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381500" y="1752600"/>
              <a:ext cx="3429000" cy="3714750"/>
            </a:xfrm>
            <a:prstGeom prst="roundRect">
              <a:avLst>
                <a:gd name="adj" fmla="val 4444"/>
              </a:avLst>
            </a:prstGeom>
            <a:solidFill>
              <a:srgbClr val="FBFAFF"/>
            </a:solidFill>
            <a:ln w="9525">
              <a:solidFill>
                <a:srgbClr val="DDD6FE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84395" y="206978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结果表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90110" y="2594610"/>
              <a:ext cx="8145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step name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90110" y="2918460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PASS / FAIL / SKIP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90110" y="3242310"/>
              <a:ext cx="6945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duration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90110" y="3566160"/>
              <a:ext cx="10946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log reference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90110" y="3890010"/>
              <a:ext cx="7425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exit code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229600" y="1752600"/>
              <a:ext cx="3429000" cy="3714750"/>
            </a:xfrm>
            <a:prstGeom prst="roundRect">
              <a:avLst>
                <a:gd name="adj" fmla="val 4444"/>
              </a:avLst>
            </a:prstGeom>
            <a:solidFill>
              <a:srgbClr val="FBFAFF"/>
            </a:solidFill>
            <a:ln w="9525">
              <a:solidFill>
                <a:srgbClr val="DDD6F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532495" y="20697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评审价值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38210" y="259461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快速定位失败步骤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38210" y="291846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避免只看漂亮摘要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38210" y="32423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把证据和结果表链接起来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38210" y="356616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方便提交附带最小证据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29" name="TextBox 29"/>
            <p:cNvSpPr txBox="1"/>
            <p:nvPr/>
          </p:nvSpPr>
          <p:spPr>
            <a:xfrm>
              <a:off x="521970" y="62464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证据清单结构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20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469677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7C3AED"/>
                  </a:solidFill>
                  <a:latin typeface="Arial"/>
                  <a:ea typeface="Microsoft YaHei"/>
                  <a:cs typeface="Arial"/>
                </a:rPr>
                <a:t>测试摘要：快速判断状态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BFAFF"/>
            </a:solidFill>
            <a:ln w="9525">
              <a:solidFill>
                <a:srgbClr val="DDD6FE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把原始日志压缩成评审者能快速判断的结果。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33400" y="1752600"/>
            <a:ext cx="11125200" cy="3714750"/>
            <a:chOff x="533400" y="1752600"/>
            <a:chExt cx="11125200" cy="3714750"/>
          </a:xfrm>
        </p:grpSpPr>
        <p:sp>
          <p:nvSpPr>
            <p:cNvPr id="8" name="Rectangle 8"/>
            <p:cNvSpPr/>
            <p:nvPr/>
          </p:nvSpPr>
          <p:spPr>
            <a:xfrm>
              <a:off x="533400" y="1752600"/>
              <a:ext cx="11125200" cy="3714750"/>
            </a:xfrm>
            <a:prstGeom prst="roundRect">
              <a:avLst>
                <a:gd name="adj" fmla="val 4103"/>
              </a:avLst>
            </a:prstGeom>
            <a:solidFill>
              <a:srgbClr val="FBFAFF"/>
            </a:solidFill>
            <a:ln w="9525">
              <a:solidFill>
                <a:srgbClr val="DDD6FE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3445" y="20697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摘要应该包含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9160" y="2670810"/>
              <a:ext cx="27748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1. 本次运行的通过、失败或跳过结论。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9160" y="3147060"/>
              <a:ext cx="32628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2. 每个 gate 的状态、耗时和对应日志路径。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9160" y="3623310"/>
              <a:ext cx="48950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3. 失败时的最短解释：失败在哪一步、已排除什么、下一步看什么。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9160" y="4099560"/>
              <a:ext cx="28148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4. 摘要给状态，交接报告给交付判断。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14400" y="4762500"/>
              <a:ext cx="2343150" cy="361950"/>
            </a:xfrm>
            <a:prstGeom prst="roundRect">
              <a:avLst>
                <a:gd name="adj" fmla="val 50000"/>
              </a:avLst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32895" y="4879181"/>
              <a:ext cx="17061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review in two minutes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21970" y="6246495"/>
            <a:ext cx="11062906" cy="182880"/>
            <a:chOff x="521970" y="6246495"/>
            <a:chExt cx="11062906" cy="182880"/>
          </a:xfrm>
        </p:grpSpPr>
        <p:sp>
          <p:nvSpPr>
            <p:cNvPr id="17" name="TextBox 17"/>
            <p:cNvSpPr txBox="1"/>
            <p:nvPr/>
          </p:nvSpPr>
          <p:spPr>
            <a:xfrm>
              <a:off x="521970" y="6246495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证据指南：测试摘要作用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189970" y="624649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21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511683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7C3AED"/>
                  </a:solidFill>
                  <a:latin typeface="Arial"/>
                  <a:ea typeface="Microsoft YaHei"/>
                  <a:cs typeface="Arial"/>
                </a:rPr>
                <a:t>交接报告：说明结论和风险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BFAFF"/>
            </a:solidFill>
            <a:ln w="9525">
              <a:solidFill>
                <a:srgbClr val="DDD6FE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交付时要说清证据支持什么、还没覆盖什么。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33400" y="1752600"/>
            <a:ext cx="11125200" cy="3714750"/>
            <a:chOff x="533400" y="1752600"/>
            <a:chExt cx="11125200" cy="3714750"/>
          </a:xfrm>
        </p:grpSpPr>
        <p:sp>
          <p:nvSpPr>
            <p:cNvPr id="8" name="Rectangle 8"/>
            <p:cNvSpPr/>
            <p:nvPr/>
          </p:nvSpPr>
          <p:spPr>
            <a:xfrm>
              <a:off x="533400" y="1752600"/>
              <a:ext cx="3333750" cy="3714750"/>
            </a:xfrm>
            <a:prstGeom prst="roundRect">
              <a:avLst>
                <a:gd name="adj" fmla="val 4571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7725" y="2043112"/>
              <a:ext cx="163234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交接要回答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1060" y="268986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本次验证覆盖了什么？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1060" y="301371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没有覆盖什么？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1060" y="333756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是否可以进入下一步？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1060" y="366141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需要谁复核？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286250" y="1752600"/>
              <a:ext cx="7372350" cy="3714750"/>
            </a:xfrm>
            <a:prstGeom prst="roundRect">
              <a:avLst>
                <a:gd name="adj" fmla="val 4103"/>
              </a:avLst>
            </a:prstGeom>
            <a:solidFill>
              <a:srgbClr val="FBFAFF"/>
            </a:solidFill>
            <a:ln w="9525">
              <a:solidFill>
                <a:srgbClr val="DDD6F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46295" y="20888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建议结构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52010" y="2670810"/>
              <a:ext cx="27908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结论：本次 run 的状态和是否可交付。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52010" y="3147060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证据：关键日志、摘要和清单链接。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52010" y="3623310"/>
              <a:ext cx="3070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边界：未覆盖项、人工复核项、硬件风险。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52010" y="409956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下一步：建议修复、复测或拆分提交。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21" name="TextBox 21"/>
            <p:cNvSpPr txBox="1"/>
            <p:nvPr/>
          </p:nvSpPr>
          <p:spPr>
            <a:xfrm>
              <a:off x="521970" y="6246495"/>
              <a:ext cx="21231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Workflow template: handoff report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22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2F2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553688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主线三：用真实故障证明价值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FF8F8"/>
            </a:solidFill>
            <a:ln w="9525">
              <a:solidFill>
                <a:srgbClr val="FECACA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串口复位案例展示故障如何变成回归检查。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33400" y="1752600"/>
            <a:ext cx="11125200" cy="3714750"/>
            <a:chOff x="533400" y="1752600"/>
            <a:chExt cx="11125200" cy="3714750"/>
          </a:xfrm>
        </p:grpSpPr>
        <p:sp>
          <p:nvSpPr>
            <p:cNvPr id="8" name="Rectangle 8"/>
            <p:cNvSpPr/>
            <p:nvPr/>
          </p:nvSpPr>
          <p:spPr>
            <a:xfrm>
              <a:off x="533400" y="1752600"/>
              <a:ext cx="5143500" cy="3714750"/>
            </a:xfrm>
            <a:prstGeom prst="roundRect">
              <a:avLst>
                <a:gd name="adj" fmla="val 4103"/>
              </a:avLst>
            </a:prstGeom>
            <a:solidFill>
              <a:srgbClr val="FFF8F8"/>
            </a:solidFill>
            <a:ln w="9525">
              <a:solidFill>
                <a:srgbClr val="FECAC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6295" y="20697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案例上下文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2010" y="2651760"/>
              <a:ext cx="35829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平台：STM32F407 + FreeRTOS + USB CDC shell。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2010" y="3128010"/>
              <a:ext cx="26468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时间：2026-05-19 到 2026-05-20。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010" y="3604260"/>
              <a:ext cx="3070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基线：完整构建、烧录、串口和协议运行。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010" y="4080510"/>
              <a:ext cx="37189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价值：把一次故障修复转成永久 regression gate。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134100" y="1752600"/>
              <a:ext cx="5524500" cy="3714750"/>
            </a:xfrm>
            <a:prstGeom prst="roundRect">
              <a:avLst>
                <a:gd name="adj" fmla="val 4103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82715" y="2125028"/>
              <a:ext cx="465279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这比 happy path 更有说服力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99860" y="291846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问题不是修一次就结束。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99860" y="3242310"/>
              <a:ext cx="2430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它要变成下次自动检查的一部分。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19" name="TextBox 19"/>
            <p:cNvSpPr txBox="1"/>
            <p:nvPr/>
          </p:nvSpPr>
          <p:spPr>
            <a:xfrm>
              <a:off x="521970" y="6246495"/>
              <a:ext cx="27231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case-studies/04-usb-cdc-reset-recovery.md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23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2F2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511683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案例一：端口存在但不可用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FF8F8"/>
            </a:solidFill>
            <a:ln w="9525">
              <a:solidFill>
                <a:srgbClr val="FECACA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系统看到端口，不代表控制通道真的恢复。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33400" y="1752600"/>
            <a:ext cx="11125200" cy="3714750"/>
            <a:chOff x="533400" y="1752600"/>
            <a:chExt cx="11125200" cy="3714750"/>
          </a:xfrm>
        </p:grpSpPr>
        <p:sp>
          <p:nvSpPr>
            <p:cNvPr id="8" name="Rectangle 8"/>
            <p:cNvSpPr/>
            <p:nvPr/>
          </p:nvSpPr>
          <p:spPr>
            <a:xfrm>
              <a:off x="533400" y="1752600"/>
              <a:ext cx="11125200" cy="3714750"/>
            </a:xfrm>
            <a:prstGeom prst="roundRect">
              <a:avLst>
                <a:gd name="adj" fmla="val 4103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3445" y="2165032"/>
              <a:ext cx="567461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FAIL: USB CDC shell did not respond within 45 seconds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5350" y="2733675"/>
              <a:ext cx="397859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9D7DF"/>
                  </a:solidFill>
                  <a:latin typeface="Consolas"/>
                  <a:ea typeface="Microsoft YaHei"/>
                  <a:cs typeface="Consolas"/>
                </a:rPr>
                <a:t>Last state: shell did not answer version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5350" y="3476625"/>
              <a:ext cx="62988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Last state: serial Open/Write failed on the Windows COM device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914400" y="4095750"/>
              <a:ext cx="10363200" cy="9525"/>
            </a:xfrm>
            <a:custGeom>
              <a:avLst/>
              <a:gdLst/>
              <a:ahLst/>
              <a:cxnLst/>
              <a:rect l="l" t="t" r="r" b="b"/>
              <a:pathLst>
                <a:path w="10363200" h="9525">
                  <a:moveTo>
                    <a:pt x="0" y="0"/>
                  </a:moveTo>
                  <a:lnTo>
                    <a:pt x="10363200" y="0"/>
                  </a:lnTo>
                </a:path>
              </a:pathLst>
            </a:custGeom>
            <a:noFill/>
            <a:ln w="38100">
              <a:solidFill>
                <a:srgbClr val="0EA5E9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3445" y="45081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讲述方式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9160" y="4937760"/>
              <a:ext cx="62632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不要只说“USB 有 bug”，要说清：COM 设备存在、shell 不响应、reset 后恢复不稳定。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16" name="TextBox 16"/>
            <p:cNvSpPr txBox="1"/>
            <p:nvPr/>
          </p:nvSpPr>
          <p:spPr>
            <a:xfrm>
              <a:off x="521970" y="6246495"/>
              <a:ext cx="27952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USB CDC symptom excerpt, redacted case study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24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2F2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469677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案例一：把修复变成检查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FF8F8"/>
            </a:solidFill>
            <a:ln w="9525">
              <a:solidFill>
                <a:srgbClr val="FECACA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27346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复位前后都可用，才算恢复可靠。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33400" y="1752600"/>
            <a:ext cx="11125200" cy="3714750"/>
            <a:chOff x="533400" y="1752600"/>
            <a:chExt cx="11125200" cy="3714750"/>
          </a:xfrm>
        </p:grpSpPr>
        <p:sp>
          <p:nvSpPr>
            <p:cNvPr id="8" name="Rectangle 8"/>
            <p:cNvSpPr/>
            <p:nvPr/>
          </p:nvSpPr>
          <p:spPr>
            <a:xfrm>
              <a:off x="533400" y="1752600"/>
              <a:ext cx="5143500" cy="3714750"/>
            </a:xfrm>
            <a:prstGeom prst="roundRect">
              <a:avLst>
                <a:gd name="adj" fmla="val 4103"/>
              </a:avLst>
            </a:prstGeom>
            <a:solidFill>
              <a:srgbClr val="FFF8F8"/>
            </a:solidFill>
            <a:ln w="9525">
              <a:solidFill>
                <a:srgbClr val="FECAC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8200" y="2085975"/>
              <a:ext cx="301847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B1F2A"/>
                  </a:solidFill>
                  <a:latin typeface="Consolas"/>
                  <a:ea typeface="Microsoft YaHei"/>
                  <a:cs typeface="Consolas"/>
                </a:rPr>
                <a:t>tools/usb_cdc_reset_test.ps1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2010" y="2727960"/>
              <a:ext cx="223075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1. USB CDC COM port present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2010" y="3051810"/>
              <a:ext cx="26468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2. version responds before reset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010" y="3375660"/>
              <a:ext cx="17666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3. shell accepts reset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010" y="3699510"/>
              <a:ext cx="23347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4. port recovers after reset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2010" y="4023360"/>
              <a:ext cx="20307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5. version responds again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134100" y="1752600"/>
              <a:ext cx="5524500" cy="3714750"/>
            </a:xfrm>
            <a:prstGeom prst="roundRect">
              <a:avLst>
                <a:gd name="adj" fmla="val 4103"/>
              </a:avLst>
            </a:prstGeom>
            <a:solidFill>
              <a:srgbClr val="FFF8F8"/>
            </a:solidFill>
            <a:ln w="9525">
              <a:solidFill>
                <a:srgbClr val="FECAC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94145" y="20888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讲解重点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99860" y="2727960"/>
              <a:ext cx="25587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新增 gate 比新增一句文档更重要。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99860" y="3204210"/>
              <a:ext cx="323888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它把未来同类问题从客户现场前移到 bench。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99860" y="3680460"/>
              <a:ext cx="2430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它也给智能诊断提供可复查输入。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21" name="TextBox 21"/>
            <p:cNvSpPr txBox="1"/>
            <p:nvPr/>
          </p:nvSpPr>
          <p:spPr>
            <a:xfrm>
              <a:off x="521970" y="6246495"/>
              <a:ext cx="16850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USB CDC reset recovery gate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25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2F2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427672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案例一：放回完整基线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FF8F8"/>
            </a:solidFill>
            <a:ln w="9525">
              <a:solidFill>
                <a:srgbClr val="FECACA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单项检查通过后，还要回到完整交付链路。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33400" y="1752600"/>
            <a:ext cx="11125200" cy="3714750"/>
            <a:chOff x="533400" y="1752600"/>
            <a:chExt cx="11125200" cy="3714750"/>
          </a:xfrm>
        </p:grpSpPr>
        <p:sp>
          <p:nvSpPr>
            <p:cNvPr id="8" name="Rectangle 8"/>
            <p:cNvSpPr/>
            <p:nvPr/>
          </p:nvSpPr>
          <p:spPr>
            <a:xfrm>
              <a:off x="533400" y="1752600"/>
              <a:ext cx="11125200" cy="3714750"/>
            </a:xfrm>
            <a:prstGeom prst="roundRect">
              <a:avLst>
                <a:gd name="adj" fmla="val 4103"/>
              </a:avLst>
            </a:prstGeom>
            <a:solidFill>
              <a:srgbClr val="FFF8F8"/>
            </a:solidFill>
            <a:ln w="9525">
              <a:solidFill>
                <a:srgbClr val="FECAC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3445" y="212693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完整基线结果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6302" y="2665571"/>
              <a:ext cx="213595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6A34A"/>
                  </a:solidFill>
                  <a:latin typeface="Consolas"/>
                  <a:ea typeface="Microsoft YaHei"/>
                  <a:cs typeface="Consolas"/>
                </a:rPr>
                <a:t>Dependency check PASS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6302" y="3027521"/>
              <a:ext cx="127134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6A34A"/>
                  </a:solidFill>
                  <a:latin typeface="Consolas"/>
                  <a:ea typeface="Microsoft YaHei"/>
                  <a:cs typeface="Consolas"/>
                </a:rPr>
                <a:t>构建固件 PASS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6302" y="3389471"/>
              <a:ext cx="127134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6A34A"/>
                  </a:solidFill>
                  <a:latin typeface="Consolas"/>
                  <a:ea typeface="Microsoft YaHei"/>
                  <a:cs typeface="Consolas"/>
                </a:rPr>
                <a:t>烧录固件 PASS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6302" y="3751421"/>
              <a:ext cx="252550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6A34A"/>
                  </a:solidFill>
                  <a:latin typeface="Consolas"/>
                  <a:ea typeface="Microsoft YaHei"/>
                  <a:cs typeface="Consolas"/>
                </a:rPr>
                <a:t>Functional serial test PASS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6302" y="4113371"/>
              <a:ext cx="216446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6A34A"/>
                  </a:solidFill>
                  <a:latin typeface="Consolas"/>
                  <a:ea typeface="Microsoft YaHei"/>
                  <a:cs typeface="Consolas"/>
                </a:rPr>
                <a:t>RTCM stream test PASS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6302" y="4475321"/>
              <a:ext cx="314308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6A34A"/>
                  </a:solidFill>
                  <a:latin typeface="Consolas"/>
                  <a:ea typeface="Microsoft YaHei"/>
                  <a:cs typeface="Consolas"/>
                </a:rPr>
                <a:t>USB CDC reset recovery test PASS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18045" y="28508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讲解结论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23760" y="33566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修复被纳入完整交付链路。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23760" y="364236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不是某个脚本单独跑通。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20" name="TextBox 20"/>
            <p:cNvSpPr txBox="1"/>
            <p:nvPr/>
          </p:nvSpPr>
          <p:spPr>
            <a:xfrm>
              <a:off x="521970" y="6246495"/>
              <a:ext cx="14930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Case 04 baseline evidence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26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2F2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553688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案例二：协议数据必须可校验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FF8F8"/>
            </a:solidFill>
            <a:ln w="9525">
              <a:solidFill>
                <a:srgbClr val="FECACA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协议质量要用帧数和校验结果证明。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33400" y="1752600"/>
            <a:ext cx="11125200" cy="3714750"/>
            <a:chOff x="533400" y="1752600"/>
            <a:chExt cx="11125200" cy="3714750"/>
          </a:xfrm>
        </p:grpSpPr>
        <p:sp>
          <p:nvSpPr>
            <p:cNvPr id="8" name="Rectangle 8"/>
            <p:cNvSpPr/>
            <p:nvPr/>
          </p:nvSpPr>
          <p:spPr>
            <a:xfrm>
              <a:off x="533400" y="1752600"/>
              <a:ext cx="5143500" cy="3714750"/>
            </a:xfrm>
            <a:prstGeom prst="roundRect">
              <a:avLst>
                <a:gd name="adj" fmla="val 4103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5350" y="2162175"/>
              <a:ext cx="158829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Read 2520 bytes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5350" y="2619375"/>
              <a:ext cx="22983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Total frames found: 28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5350" y="3076575"/>
              <a:ext cx="10782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6A34A"/>
                  </a:solidFill>
                  <a:latin typeface="Consolas"/>
                  <a:ea typeface="Microsoft YaHei"/>
                  <a:cs typeface="Consolas"/>
                </a:rPr>
                <a:t>CRC OK: 28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5350" y="3533775"/>
              <a:ext cx="10382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CRC BAD: 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5350" y="3990975"/>
              <a:ext cx="33285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9D7DF"/>
                  </a:solidFill>
                  <a:latin typeface="Consolas"/>
                  <a:ea typeface="Microsoft YaHei"/>
                  <a:cs typeface="Consolas"/>
                </a:rPr>
                <a:t>MT1005 / MT1074 / MT1084 / MT1094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134100" y="1752600"/>
              <a:ext cx="5524500" cy="3714750"/>
            </a:xfrm>
            <a:prstGeom prst="roundRect">
              <a:avLst>
                <a:gd name="adj" fmla="val 4103"/>
              </a:avLst>
            </a:prstGeom>
            <a:solidFill>
              <a:srgbClr val="FFF8F8"/>
            </a:solidFill>
            <a:ln w="9525">
              <a:solidFill>
                <a:srgbClr val="FECAC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94145" y="208883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为什么这页要讲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99860" y="2670810"/>
              <a:ext cx="403898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网页说“有 RTCM gate”，PPT 要说明 gate 的工程价值。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99860" y="3147060"/>
              <a:ext cx="39029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它把“看起来在吐数据”变成“协议输出可被机器判定”。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99860" y="3623310"/>
              <a:ext cx="3070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客户项目可以替换成自己的业务协议检查。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20" name="TextBox 20"/>
            <p:cNvSpPr txBox="1"/>
            <p:nvPr/>
          </p:nvSpPr>
          <p:spPr>
            <a:xfrm>
              <a:off x="521970" y="6246495"/>
              <a:ext cx="25071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tools/rtcm_parse.ps1 and Case 04 excerpt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27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2F2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511683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案例三：远程台架如何运转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FF8F8"/>
            </a:solidFill>
            <a:ln w="9525">
              <a:solidFill>
                <a:srgbClr val="FECACA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远程触发流程，证据在测试台架旁生成。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533400" y="1752600"/>
            <a:ext cx="11125200" cy="3714750"/>
            <a:chOff x="533400" y="1752600"/>
            <a:chExt cx="11125200" cy="3714750"/>
          </a:xfrm>
        </p:grpSpPr>
        <p:sp>
          <p:nvSpPr>
            <p:cNvPr id="8" name="Rectangle 8"/>
            <p:cNvSpPr/>
            <p:nvPr/>
          </p:nvSpPr>
          <p:spPr>
            <a:xfrm>
              <a:off x="533400" y="1752600"/>
              <a:ext cx="3429000" cy="3714750"/>
            </a:xfrm>
            <a:prstGeom prst="roundRect">
              <a:avLst>
                <a:gd name="adj" fmla="val 4444"/>
              </a:avLst>
            </a:prstGeom>
            <a:solidFill>
              <a:srgbClr val="FFF8F8"/>
            </a:solidFill>
            <a:ln w="9525">
              <a:solidFill>
                <a:srgbClr val="FECAC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6295" y="20888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传统痛点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2010" y="265176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等同事截图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2010" y="2975610"/>
              <a:ext cx="14146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手工描述 COM 状态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010" y="329946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每次修复靠人重复操作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010" y="36233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失败证据散在聊天里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381500" y="1752600"/>
              <a:ext cx="3429000" cy="3714750"/>
            </a:xfrm>
            <a:prstGeom prst="roundRect">
              <a:avLst>
                <a:gd name="adj" fmla="val 4444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84395" y="2088832"/>
              <a:ext cx="122015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Liakia 做法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90110" y="2651760"/>
              <a:ext cx="17026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Bench PC 保持硬件连接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90110" y="2975610"/>
              <a:ext cx="15506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远程触发 PowerShell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90110" y="32994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本地生成日志和清单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90110" y="362331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证据包回传开发侧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229600" y="1752600"/>
              <a:ext cx="3429000" cy="3714750"/>
            </a:xfrm>
            <a:prstGeom prst="roundRect">
              <a:avLst>
                <a:gd name="adj" fmla="val 4444"/>
              </a:avLst>
            </a:prstGeom>
            <a:solidFill>
              <a:srgbClr val="FFF8F8"/>
            </a:solidFill>
            <a:ln w="9525">
              <a:solidFill>
                <a:srgbClr val="FECAC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32495" y="20888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商业价值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38210" y="265176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稀缺样机不必搬来搬去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38210" y="29756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测试人员不用重复长命令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38210" y="32994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失败尝试也保留日志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38210" y="36233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管理者能审查压缩证据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27" name="TextBox 27"/>
            <p:cNvSpPr txBox="1"/>
            <p:nvPr/>
          </p:nvSpPr>
          <p:spPr>
            <a:xfrm>
              <a:off x="521970" y="6246495"/>
              <a:ext cx="23331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docs/remote-hardware-debug-flow.md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28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2F2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469677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案例三：用数字证明结果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FF8F8"/>
            </a:solidFill>
            <a:ln w="9525">
              <a:solidFill>
                <a:srgbClr val="FECACA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41748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字节数、帧数、校验结果和复位恢复共同证明可信。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33400" y="1752600"/>
            <a:ext cx="11125200" cy="1714500"/>
            <a:chOff x="533400" y="1752600"/>
            <a:chExt cx="11125200" cy="1714500"/>
          </a:xfrm>
        </p:grpSpPr>
        <p:sp>
          <p:nvSpPr>
            <p:cNvPr id="8" name="Rectangle 8"/>
            <p:cNvSpPr/>
            <p:nvPr/>
          </p:nvSpPr>
          <p:spPr>
            <a:xfrm>
              <a:off x="533400" y="1752600"/>
              <a:ext cx="2552700" cy="1714500"/>
            </a:xfrm>
            <a:prstGeom prst="roundRect">
              <a:avLst>
                <a:gd name="adj" fmla="val 8889"/>
              </a:avLst>
            </a:prstGeom>
            <a:solidFill>
              <a:srgbClr val="FFF8F8"/>
            </a:solidFill>
            <a:ln w="9525">
              <a:solidFill>
                <a:srgbClr val="FECAC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6290" y="1882140"/>
              <a:ext cx="1100347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EA5E9"/>
                  </a:solidFill>
                  <a:latin typeface="Arial"/>
                  <a:ea typeface="Microsoft YaHei"/>
                  <a:cs typeface="Arial"/>
                </a:rPr>
                <a:t>4593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2960" y="2594610"/>
              <a:ext cx="9025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RTCM bytes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314700" y="1752600"/>
              <a:ext cx="2552700" cy="1714500"/>
            </a:xfrm>
            <a:prstGeom prst="roundRect">
              <a:avLst>
                <a:gd name="adj" fmla="val 8889"/>
              </a:avLst>
            </a:prstGeom>
            <a:solidFill>
              <a:srgbClr val="FFF8F8"/>
            </a:solidFill>
            <a:ln w="9525">
              <a:solidFill>
                <a:srgbClr val="FECAC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577590" y="1882140"/>
              <a:ext cx="59208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EA5E9"/>
                  </a:solidFill>
                  <a:latin typeface="Arial"/>
                  <a:ea typeface="Microsoft YaHei"/>
                  <a:cs typeface="Arial"/>
                </a:rPr>
                <a:t>52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04260" y="2594610"/>
              <a:ext cx="10226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RTCM frames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0" y="1752600"/>
              <a:ext cx="2552700" cy="1714500"/>
            </a:xfrm>
            <a:prstGeom prst="roundRect">
              <a:avLst>
                <a:gd name="adj" fmla="val 8889"/>
              </a:avLst>
            </a:prstGeom>
            <a:solidFill>
              <a:srgbClr val="FFF8F8"/>
            </a:solidFill>
            <a:ln w="9525">
              <a:solidFill>
                <a:srgbClr val="FECAC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58890" y="1882140"/>
              <a:ext cx="337952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6A34A"/>
                  </a:solidFill>
                  <a:latin typeface="Arial"/>
                  <a:ea typeface="Microsoft YaHei"/>
                  <a:cs typeface="Arial"/>
                </a:rPr>
                <a:t>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85560" y="2594610"/>
              <a:ext cx="6065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CRC BAD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877300" y="1752600"/>
              <a:ext cx="2781300" cy="1714500"/>
            </a:xfrm>
            <a:prstGeom prst="roundRect">
              <a:avLst>
                <a:gd name="adj" fmla="val 8889"/>
              </a:avLst>
            </a:prstGeom>
            <a:solidFill>
              <a:srgbClr val="FFF8F8"/>
            </a:solidFill>
            <a:ln w="9525">
              <a:solidFill>
                <a:srgbClr val="FECAC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40190" y="1882140"/>
              <a:ext cx="1100347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6A34A"/>
                  </a:solidFill>
                  <a:latin typeface="Arial"/>
                  <a:ea typeface="Microsoft YaHei"/>
                  <a:cs typeface="Arial"/>
                </a:rPr>
                <a:t>PASS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66860" y="2594610"/>
              <a:ext cx="18467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USB CDC reset recovery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4095750"/>
            <a:ext cx="11125200" cy="1257300"/>
            <a:chOff x="533400" y="4095750"/>
            <a:chExt cx="11125200" cy="1257300"/>
          </a:xfrm>
        </p:grpSpPr>
        <p:sp>
          <p:nvSpPr>
            <p:cNvPr id="21" name="Rectangle 21"/>
            <p:cNvSpPr/>
            <p:nvPr/>
          </p:nvSpPr>
          <p:spPr>
            <a:xfrm>
              <a:off x="533400" y="4095750"/>
              <a:ext cx="11125200" cy="1238250"/>
            </a:xfrm>
            <a:prstGeom prst="roundRect">
              <a:avLst>
                <a:gd name="adj" fmla="val 13846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93445" y="44129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讲解重点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9160" y="4823460"/>
              <a:ext cx="35189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不要只说“支持远程 HIL”，要把证据数字放出来。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9160" y="5109210"/>
              <a:ext cx="498309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远程 run 解析帧、验证 CRC、跑 reset recovery，并生成回传证据。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26" name="TextBox 26"/>
            <p:cNvSpPr txBox="1"/>
            <p:nvPr/>
          </p:nvSpPr>
          <p:spPr>
            <a:xfrm>
              <a:off x="521970" y="6246495"/>
              <a:ext cx="16790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远程硬件验证证据 2026-05-20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29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427672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D97706"/>
                  </a:solidFill>
                  <a:latin typeface="Arial"/>
                  <a:ea typeface="Microsoft YaHei"/>
                  <a:cs typeface="Arial"/>
                </a:rPr>
                <a:t>主线四：让别人能练习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FFCF4"/>
            </a:solidFill>
            <a:ln w="9525">
              <a:solidFill>
                <a:srgbClr val="FDE68A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低成本实验台把真实流程降到可练习门槛。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33400" y="1752600"/>
            <a:ext cx="11125200" cy="3714750"/>
            <a:chOff x="533400" y="1752600"/>
            <a:chExt cx="11125200" cy="3714750"/>
          </a:xfrm>
        </p:grpSpPr>
        <p:sp>
          <p:nvSpPr>
            <p:cNvPr id="8" name="Rectangle 8"/>
            <p:cNvSpPr/>
            <p:nvPr/>
          </p:nvSpPr>
          <p:spPr>
            <a:xfrm>
              <a:off x="533400" y="1752600"/>
              <a:ext cx="11125200" cy="3714750"/>
            </a:xfrm>
            <a:prstGeom prst="roundRect">
              <a:avLst>
                <a:gd name="adj" fmla="val 4103"/>
              </a:avLst>
            </a:prstGeom>
            <a:solidFill>
              <a:srgbClr val="FFFCF4"/>
            </a:solidFill>
            <a:ln w="9525">
              <a:solidFill>
                <a:srgbClr val="FDE68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9160" y="2194560"/>
              <a:ext cx="35749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00 硬件检查：确认电源、SWD、UART、I2C 接线。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9160" y="2670810"/>
              <a:ext cx="33188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01 CubeMX IOC：让基础工程可生成、可构建。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9160" y="3147060"/>
              <a:ext cx="35669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02 App layer integration：接入 Liakia 练习层。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9160" y="3623310"/>
              <a:ext cx="32308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03 BMP280 bringup：先跑通正常 baseline。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9160" y="4099560"/>
              <a:ext cx="39349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04 已知故障诊断：导入故障，用证据和助手对比排查。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9160" y="4575810"/>
              <a:ext cx="42390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05 Fix and regression：最小修复，再用同一套脚本回归。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16" name="TextBox 16"/>
            <p:cNvSpPr txBox="1"/>
            <p:nvPr/>
          </p:nvSpPr>
          <p:spPr>
            <a:xfrm>
              <a:off x="521970" y="6246495"/>
              <a:ext cx="26931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starter-kits/stm32f103-sensor-lab/missions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30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385667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D97706"/>
                  </a:solidFill>
                  <a:latin typeface="Arial"/>
                  <a:ea typeface="Microsoft YaHei"/>
                  <a:cs typeface="Arial"/>
                </a:rPr>
                <a:t>低成本实验台如何搭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FFCF4"/>
            </a:solidFill>
            <a:ln w="9525">
              <a:solidFill>
                <a:srgbClr val="FDE68A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便宜硬件也要保留真实连接和复位问题。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33400" y="1752600"/>
            <a:ext cx="11125200" cy="3695700"/>
            <a:chOff x="533400" y="1752600"/>
            <a:chExt cx="11125200" cy="3695700"/>
          </a:xfrm>
        </p:grpSpPr>
        <p:sp>
          <p:nvSpPr>
            <p:cNvPr id="8" name="Rectangle 8"/>
            <p:cNvSpPr/>
            <p:nvPr/>
          </p:nvSpPr>
          <p:spPr>
            <a:xfrm>
              <a:off x="533400" y="1752600"/>
              <a:ext cx="2552700" cy="2476500"/>
            </a:xfrm>
            <a:prstGeom prst="roundRect">
              <a:avLst>
                <a:gd name="adj" fmla="val 6154"/>
              </a:avLst>
            </a:prstGeom>
            <a:solidFill>
              <a:srgbClr val="FFFCF4"/>
            </a:solidFill>
            <a:ln w="9525">
              <a:solidFill>
                <a:srgbClr val="FDE68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7245" y="2145982"/>
              <a:ext cx="168221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STM32F103C8T6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2960" y="2689860"/>
              <a:ext cx="19987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常见 Blue Pill 兼容板即可。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314700" y="1752600"/>
              <a:ext cx="2552700" cy="2476500"/>
            </a:xfrm>
            <a:prstGeom prst="roundRect">
              <a:avLst>
                <a:gd name="adj" fmla="val 6154"/>
              </a:avLst>
            </a:prstGeom>
            <a:solidFill>
              <a:srgbClr val="FFFCF4"/>
            </a:solidFill>
            <a:ln w="9525">
              <a:solidFill>
                <a:srgbClr val="FDE68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598545" y="2145982"/>
              <a:ext cx="85051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BMP280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04260" y="2689860"/>
              <a:ext cx="27028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I2C 传感器，用来制造真实数据问题。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0" y="1752600"/>
              <a:ext cx="2552700" cy="2476500"/>
            </a:xfrm>
            <a:prstGeom prst="roundRect">
              <a:avLst>
                <a:gd name="adj" fmla="val 6154"/>
              </a:avLst>
            </a:prstGeom>
            <a:solidFill>
              <a:srgbClr val="FFFCF4"/>
            </a:solidFill>
            <a:ln w="9525">
              <a:solidFill>
                <a:srgbClr val="FDE68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79845" y="2145982"/>
              <a:ext cx="87361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ST-LINK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85560" y="2689860"/>
              <a:ext cx="21347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SWD 烧录、复位和必要调试。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877300" y="1752600"/>
              <a:ext cx="2781300" cy="2476500"/>
            </a:xfrm>
            <a:prstGeom prst="roundRect">
              <a:avLst>
                <a:gd name="adj" fmla="val 6154"/>
              </a:avLst>
            </a:prstGeom>
            <a:solidFill>
              <a:srgbClr val="FFFCF4"/>
            </a:solidFill>
            <a:ln w="9525">
              <a:solidFill>
                <a:srgbClr val="FDE68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61145" y="2145982"/>
              <a:ext cx="105843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USB-UART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66860" y="2689860"/>
              <a:ext cx="24707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Shell、日志采集和自动检查入口。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686300"/>
              <a:ext cx="11125200" cy="762000"/>
            </a:xfrm>
            <a:prstGeom prst="roundRect">
              <a:avLst>
                <a:gd name="adj" fmla="val 22500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93445" y="4984432"/>
              <a:ext cx="83589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讲解重点：低成本不是降低工程真实性，而是让更多人能亲手经历证据驱动调试。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21970" y="6246495"/>
            <a:ext cx="11062906" cy="182880"/>
            <a:chOff x="521970" y="6246495"/>
            <a:chExt cx="11062906" cy="182880"/>
          </a:xfrm>
        </p:grpSpPr>
        <p:sp>
          <p:nvSpPr>
            <p:cNvPr id="23" name="TextBox 23"/>
            <p:cNvSpPr txBox="1"/>
            <p:nvPr/>
          </p:nvSpPr>
          <p:spPr>
            <a:xfrm>
              <a:off x="521970" y="6246495"/>
              <a:ext cx="20031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Starter-F103 BOM and quick start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189970" y="624649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31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637698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D97706"/>
                  </a:solidFill>
                  <a:latin typeface="Arial"/>
                  <a:ea typeface="Microsoft YaHei"/>
                  <a:cs typeface="Arial"/>
                </a:rPr>
                <a:t>练习一：通信正常不等于数据可信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FFCF4"/>
            </a:solidFill>
            <a:ln w="9525">
              <a:solidFill>
                <a:srgbClr val="FDE68A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设备在线只是起点，业务数据还要能解释。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33400" y="1752600"/>
            <a:ext cx="11125200" cy="3714750"/>
            <a:chOff x="533400" y="1752600"/>
            <a:chExt cx="11125200" cy="3714750"/>
          </a:xfrm>
        </p:grpSpPr>
        <p:sp>
          <p:nvSpPr>
            <p:cNvPr id="8" name="Rectangle 8"/>
            <p:cNvSpPr/>
            <p:nvPr/>
          </p:nvSpPr>
          <p:spPr>
            <a:xfrm>
              <a:off x="533400" y="1752600"/>
              <a:ext cx="5143500" cy="3714750"/>
            </a:xfrm>
            <a:prstGeom prst="roundRect">
              <a:avLst>
                <a:gd name="adj" fmla="val 4103"/>
              </a:avLst>
            </a:prstGeom>
            <a:solidFill>
              <a:srgbClr val="FFFCF4"/>
            </a:solidFill>
            <a:ln w="9525">
              <a:solidFill>
                <a:srgbClr val="FDE68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6295" y="20697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训练重点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2010" y="2651760"/>
              <a:ext cx="23027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区分“设备在线”和“数据可信”。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2010" y="3128010"/>
              <a:ext cx="21667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不要只看 I2C ACK 和 chip ID。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010" y="3604260"/>
              <a:ext cx="24947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要用 sensor gate 固化质量边界。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134100" y="1752600"/>
              <a:ext cx="5524500" cy="3714750"/>
            </a:xfrm>
            <a:prstGeom prst="roundRect">
              <a:avLst>
                <a:gd name="adj" fmla="val 4103"/>
              </a:avLst>
            </a:prstGeom>
            <a:solidFill>
              <a:srgbClr val="FFFCF4"/>
            </a:solidFill>
            <a:ln w="9525">
              <a:solidFill>
                <a:srgbClr val="FDE68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94145" y="206978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讲给听众的判断框架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99860" y="2651760"/>
              <a:ext cx="24547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1. 通信成功不等于业务数据正确。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99860" y="3128010"/>
              <a:ext cx="24947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2. 助手只能基于证据收窄可能性。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99860" y="3604260"/>
              <a:ext cx="25267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3. 最小修复后必须回归 baseline。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19" name="TextBox 19"/>
            <p:cNvSpPr txBox="1"/>
            <p:nvPr/>
          </p:nvSpPr>
          <p:spPr>
            <a:xfrm>
              <a:off x="521970" y="6246495"/>
              <a:ext cx="18410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Starter-F103 known-bad case 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32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511683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D97706"/>
                  </a:solidFill>
                  <a:latin typeface="Arial"/>
                  <a:ea typeface="Microsoft YaHei"/>
                  <a:cs typeface="Arial"/>
                </a:rPr>
                <a:t>练习二：复位后必须能恢复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FFCF4"/>
            </a:solidFill>
            <a:ln w="9525">
              <a:solidFill>
                <a:srgbClr val="FDE68A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复位后的总线状态要能被复现和验证。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533400" y="1714500"/>
            <a:ext cx="11125200" cy="3810000"/>
            <a:chOff x="533400" y="1714500"/>
            <a:chExt cx="11125200" cy="3810000"/>
          </a:xfrm>
        </p:grpSpPr>
        <p:sp>
          <p:nvSpPr>
            <p:cNvPr id="8" name="Rectangle 8"/>
            <p:cNvSpPr/>
            <p:nvPr/>
          </p:nvSpPr>
          <p:spPr>
            <a:xfrm>
              <a:off x="533400" y="1714500"/>
              <a:ext cx="3238500" cy="3810000"/>
            </a:xfrm>
            <a:prstGeom prst="roundRect">
              <a:avLst>
                <a:gd name="adj" fmla="val 4706"/>
              </a:avLst>
            </a:prstGeom>
            <a:solidFill>
              <a:srgbClr val="FFFCF4"/>
            </a:solidFill>
            <a:ln w="9525">
              <a:solidFill>
                <a:srgbClr val="FDE68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7245" y="20316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现象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2960" y="263271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上电后读取正常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2960" y="2956560"/>
              <a:ext cx="18467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执行 reset 后偶发无响应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2960" y="328041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重新插拔后又恢复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2960" y="36042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人工复现成本高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476750" y="1714500"/>
              <a:ext cx="3238500" cy="3810000"/>
            </a:xfrm>
            <a:prstGeom prst="roundRect">
              <a:avLst>
                <a:gd name="adj" fmla="val 4706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60595" y="2031682"/>
              <a:ext cx="122015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Liakia 检查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66310" y="2632710"/>
              <a:ext cx="15266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记录 reset 前后状态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66310" y="29565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采集 I2C 错误码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66310" y="3280410"/>
              <a:ext cx="13586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区分 BUSY 与 NACK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66310" y="360426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输出最小复现实验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420100" y="1714500"/>
              <a:ext cx="3238500" cy="3810000"/>
            </a:xfrm>
            <a:prstGeom prst="roundRect">
              <a:avLst>
                <a:gd name="adj" fmla="val 4706"/>
              </a:avLst>
            </a:prstGeom>
            <a:solidFill>
              <a:srgbClr val="FFFCF4"/>
            </a:solidFill>
            <a:ln w="9525">
              <a:solidFill>
                <a:srgbClr val="FDE68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03945" y="20316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评审关注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09660" y="26327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是否有明确失败证据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09660" y="29565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是否能稳定重跑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09660" y="328041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是否只改最小逻辑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09660" y="3604260"/>
              <a:ext cx="13426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是否纳入 baseline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27" name="TextBox 27"/>
            <p:cNvSpPr txBox="1"/>
            <p:nvPr/>
          </p:nvSpPr>
          <p:spPr>
            <a:xfrm>
              <a:off x="521970" y="6246495"/>
              <a:ext cx="18410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Starter-F103 known-bad case 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33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511683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D97706"/>
                  </a:solidFill>
                  <a:latin typeface="Arial"/>
                  <a:ea typeface="Microsoft YaHei"/>
                  <a:cs typeface="Arial"/>
                </a:rPr>
                <a:t>练习三：配置必须真正保存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FFCF4"/>
            </a:solidFill>
            <a:ln w="9525">
              <a:solidFill>
                <a:srgbClr val="FDE68A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保存返回成功，不代表复位后仍然有效。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533400" y="1695450"/>
            <a:ext cx="11125200" cy="3600450"/>
            <a:chOff x="533400" y="1695450"/>
            <a:chExt cx="11125200" cy="3600450"/>
          </a:xfrm>
        </p:grpSpPr>
        <p:sp>
          <p:nvSpPr>
            <p:cNvPr id="8" name="Rectangle 8"/>
            <p:cNvSpPr/>
            <p:nvPr/>
          </p:nvSpPr>
          <p:spPr>
            <a:xfrm>
              <a:off x="533400" y="1695450"/>
              <a:ext cx="11125200" cy="1009650"/>
            </a:xfrm>
            <a:prstGeom prst="roundRect">
              <a:avLst>
                <a:gd name="adj" fmla="val 15094"/>
              </a:avLst>
            </a:prstGeom>
            <a:solidFill>
              <a:srgbClr val="FFFCF4"/>
            </a:solidFill>
            <a:ln w="9525">
              <a:solidFill>
                <a:srgbClr val="FDE68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7245" y="19173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失败链路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2960" y="2308860"/>
              <a:ext cx="49510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设置配置 → 保存成功 → 读取正常 → 复位 → 回到默认值 → 交接风险暴露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3105150"/>
              <a:ext cx="3429000" cy="2190750"/>
            </a:xfrm>
            <a:prstGeom prst="roundRect">
              <a:avLst>
                <a:gd name="adj" fmla="val 6957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7245" y="33842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要补的证据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2960" y="392811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保存前参数快照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2960" y="423291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保存命令原始响应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2960" y="453771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复位后再次读取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381500" y="3105150"/>
              <a:ext cx="3429000" cy="2190750"/>
            </a:xfrm>
            <a:prstGeom prst="roundRect">
              <a:avLst>
                <a:gd name="adj" fmla="val 6957"/>
              </a:avLst>
            </a:prstGeom>
            <a:solidFill>
              <a:srgbClr val="FFFCF4"/>
            </a:solidFill>
            <a:ln w="9525">
              <a:solidFill>
                <a:srgbClr val="FDE68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665345" y="338423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助手应该做什么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71060" y="39281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区分运行内存与闪存路径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71060" y="423291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提出最小验证命令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71060" y="45377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标注置信度和未确认项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229600" y="3105150"/>
              <a:ext cx="3429000" cy="2190750"/>
            </a:xfrm>
            <a:prstGeom prst="roundRect">
              <a:avLst>
                <a:gd name="adj" fmla="val 6957"/>
              </a:avLst>
            </a:prstGeom>
            <a:solidFill>
              <a:srgbClr val="FEF3C7"/>
            </a:solidFill>
            <a:ln w="19050">
              <a:solidFill>
                <a:srgbClr val="D9770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13445" y="33842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通过标准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19160" y="392811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复位前后值一致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19160" y="42329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日志能追溯命令顺序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19160" y="45377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失败时有机器可读摘要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27" name="TextBox 27"/>
            <p:cNvSpPr txBox="1"/>
            <p:nvPr/>
          </p:nvSpPr>
          <p:spPr>
            <a:xfrm>
              <a:off x="521970" y="6246495"/>
              <a:ext cx="18410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Starter-F103 known-bad case 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34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553688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D97706"/>
                  </a:solidFill>
                  <a:latin typeface="Arial"/>
                  <a:ea typeface="Microsoft YaHei"/>
                  <a:cs typeface="Arial"/>
                </a:rPr>
                <a:t>练习四：偶发丢帧也要可发现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FFCF4"/>
            </a:solidFill>
            <a:ln w="9525">
              <a:solidFill>
                <a:srgbClr val="FDE68A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少量丢帧不能靠肉眼观察，要靠统计暴露。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143000" y="2152650"/>
            <a:ext cx="9906000" cy="919162"/>
            <a:chOff x="1143000" y="2152650"/>
            <a:chExt cx="9906000" cy="919162"/>
          </a:xfrm>
        </p:grpSpPr>
        <p:sp>
          <p:nvSpPr>
            <p:cNvPr id="8" name="Line 8"/>
            <p:cNvSpPr/>
            <p:nvPr/>
          </p:nvSpPr>
          <p:spPr>
            <a:xfrm>
              <a:off x="1143000" y="23431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38100">
              <a:solidFill>
                <a:srgbClr val="FDE68A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524000" y="2152650"/>
              <a:ext cx="381000" cy="381000"/>
            </a:xfrm>
            <a:prstGeom prst="ellipse">
              <a:avLst/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4191000" y="2152650"/>
              <a:ext cx="381000" cy="3810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6858000" y="2152650"/>
              <a:ext cx="381000" cy="381000"/>
            </a:xfrm>
            <a:prstGeom prst="ellipse">
              <a:avLst/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525000" y="2152650"/>
              <a:ext cx="381000" cy="381000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74445" y="273653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输入流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89045" y="2736532"/>
              <a:ext cx="10237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IDLE 中断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75095" y="2736532"/>
              <a:ext cx="100068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DMA 缓冲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56395" y="27365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解析统计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3524250"/>
            <a:ext cx="11125200" cy="1619250"/>
            <a:chOff x="533400" y="3524250"/>
            <a:chExt cx="11125200" cy="1619250"/>
          </a:xfrm>
        </p:grpSpPr>
        <p:sp>
          <p:nvSpPr>
            <p:cNvPr id="18" name="Rectangle 18"/>
            <p:cNvSpPr/>
            <p:nvPr/>
          </p:nvSpPr>
          <p:spPr>
            <a:xfrm>
              <a:off x="533400" y="3524250"/>
              <a:ext cx="5143500" cy="1619250"/>
            </a:xfrm>
            <a:prstGeom prst="roundRect">
              <a:avLst>
                <a:gd name="adj" fmla="val 9412"/>
              </a:avLst>
            </a:prstGeom>
            <a:solidFill>
              <a:srgbClr val="FFFCF4"/>
            </a:solidFill>
            <a:ln w="9525">
              <a:solidFill>
                <a:srgbClr val="FDE68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7245" y="38033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失败信号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2960" y="4328160"/>
              <a:ext cx="52551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总字节数接近，但 frame count 偶尔少 1 到 2 个；人工观察很容易漏掉。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352425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EF3C7"/>
            </a:solidFill>
            <a:ln w="19050">
              <a:solidFill>
                <a:srgbClr val="D9770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7945" y="380333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后续应该新增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23660" y="4232910"/>
              <a:ext cx="29108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固定输入样本、帧边界日志、坏帧计数。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3660" y="451866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再补回归阈值和智能诊断摘要。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26" name="TextBox 26"/>
            <p:cNvSpPr txBox="1"/>
            <p:nvPr/>
          </p:nvSpPr>
          <p:spPr>
            <a:xfrm>
              <a:off x="521970" y="6246495"/>
              <a:ext cx="18410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Starter-F103 known-bad case 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35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4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511683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C026D3"/>
                  </a:solidFill>
                  <a:latin typeface="Arial"/>
                  <a:ea typeface="Microsoft YaHei"/>
                  <a:cs typeface="Arial"/>
                </a:rPr>
                <a:t>主线五：智能助手如何参与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FF8FF"/>
            </a:solidFill>
            <a:ln w="9525">
              <a:solidFill>
                <a:srgbClr val="F5D0FE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它基于证据组织假设，不直接替人拍板。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C026D3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33400" y="1752600"/>
            <a:ext cx="11125200" cy="3714750"/>
            <a:chOff x="533400" y="1752600"/>
            <a:chExt cx="11125200" cy="371475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rcRect l="0" t="20335" r="0" b="20335"/>
            <a:stretch>
              <a:fillRect/>
            </a:stretch>
          </p:blipFill>
          <p:spPr>
            <a:xfrm>
              <a:off x="533400" y="1752600"/>
              <a:ext cx="11125200" cy="3714750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533400" y="1752600"/>
              <a:ext cx="11125200" cy="3714750"/>
            </a:xfrm>
            <a:prstGeom prst="roundRect">
              <a:avLst>
                <a:gd name="adj" fmla="val 4103"/>
              </a:avLst>
            </a:prstGeom>
            <a:solidFill>
              <a:srgbClr val="FFFFFF">
                <a:alpha val="0"/>
              </a:srgbClr>
            </a:solidFill>
            <a:ln w="19050">
              <a:solidFill>
                <a:srgbClr val="F5D0FE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38200" y="4533900"/>
              <a:ext cx="2362200" cy="609600"/>
            </a:xfrm>
            <a:prstGeom prst="roundRect">
              <a:avLst>
                <a:gd name="adj" fmla="val 25000"/>
              </a:avLst>
            </a:prstGeom>
            <a:solidFill>
              <a:srgbClr val="FFF8FF"/>
            </a:solidFill>
            <a:ln w="9525">
              <a:solidFill>
                <a:srgbClr val="F5D0F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83945" y="463200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输入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0612" y="490775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日志、清单、摘要、硬件说明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429000" y="4533900"/>
              <a:ext cx="2362200" cy="609600"/>
            </a:xfrm>
            <a:prstGeom prst="roundRect">
              <a:avLst>
                <a:gd name="adj" fmla="val 25000"/>
              </a:avLst>
            </a:prstGeom>
            <a:solidFill>
              <a:srgbClr val="FFF8FF"/>
            </a:solidFill>
            <a:ln w="9525">
              <a:solidFill>
                <a:srgbClr val="F5D0FE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74745" y="463200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分析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81412" y="490775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分类、假设、置信度、验证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19800" y="4533900"/>
              <a:ext cx="2362200" cy="609600"/>
            </a:xfrm>
            <a:prstGeom prst="roundRect">
              <a:avLst>
                <a:gd name="adj" fmla="val 25000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65545" y="463200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72212" y="490775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根因候选、补证据、回归关卡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610600" y="4533900"/>
              <a:ext cx="2743200" cy="609600"/>
            </a:xfrm>
            <a:prstGeom prst="roundRect">
              <a:avLst>
                <a:gd name="adj" fmla="val 25000"/>
              </a:avLst>
            </a:prstGeom>
            <a:solidFill>
              <a:srgbClr val="FAE8FF"/>
            </a:solidFill>
            <a:ln w="19050">
              <a:solidFill>
                <a:srgbClr val="F59E0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856345" y="463200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边界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863012" y="49077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危险动作必须人审确认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23" name="TextBox 23"/>
            <p:cNvSpPr txBox="1"/>
            <p:nvPr/>
          </p:nvSpPr>
          <p:spPr>
            <a:xfrm>
              <a:off x="521970" y="6246495"/>
              <a:ext cx="31612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ai-agent/failure_triage.md + operation_contract.md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36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4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301656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C026D3"/>
                  </a:solidFill>
                  <a:latin typeface="Arial"/>
                  <a:ea typeface="Microsoft YaHei"/>
                  <a:cs typeface="Arial"/>
                </a:rPr>
                <a:t>先分诊，再修复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FF8FF"/>
            </a:solidFill>
            <a:ln w="9525">
              <a:solidFill>
                <a:srgbClr val="F5D0FE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复现、分类、提出假设、补证据，然后才改代码。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C026D3"/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33400" y="1695450"/>
            <a:ext cx="11125200" cy="3371850"/>
            <a:chOff x="533400" y="1695450"/>
            <a:chExt cx="11125200" cy="3371850"/>
          </a:xfrm>
        </p:grpSpPr>
        <p:sp>
          <p:nvSpPr>
            <p:cNvPr id="8" name="Rectangle 8"/>
            <p:cNvSpPr/>
            <p:nvPr/>
          </p:nvSpPr>
          <p:spPr>
            <a:xfrm>
              <a:off x="533400" y="1695450"/>
              <a:ext cx="2476500" cy="1352550"/>
            </a:xfrm>
            <a:prstGeom prst="roundRect">
              <a:avLst>
                <a:gd name="adj" fmla="val 11268"/>
              </a:avLst>
            </a:prstGeom>
            <a:solidFill>
              <a:srgbClr val="FFF8FF"/>
            </a:solidFill>
            <a:ln w="9525">
              <a:solidFill>
                <a:srgbClr val="F5D0FE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5815" y="1858328"/>
              <a:ext cx="36825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EA5E9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88745" y="19554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复现失败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2960" y="242316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保留原始命令和输出。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429000" y="1695450"/>
              <a:ext cx="2476500" cy="1352550"/>
            </a:xfrm>
            <a:prstGeom prst="roundRect">
              <a:avLst>
                <a:gd name="adj" fmla="val 11268"/>
              </a:avLst>
            </a:prstGeom>
            <a:solidFill>
              <a:srgbClr val="FFF8FF"/>
            </a:solidFill>
            <a:ln w="9525">
              <a:solidFill>
                <a:srgbClr val="F5D0FE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01415" y="1858328"/>
              <a:ext cx="45751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EA5E9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84345" y="19554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分类阶段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18560" y="242316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构建、烧录、启动、串口。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324600" y="1695450"/>
              <a:ext cx="2476500" cy="1352550"/>
            </a:xfrm>
            <a:prstGeom prst="roundRect">
              <a:avLst>
                <a:gd name="adj" fmla="val 11268"/>
              </a:avLst>
            </a:prstGeom>
            <a:solidFill>
              <a:srgbClr val="FFF8FF"/>
            </a:solidFill>
            <a:ln w="9525">
              <a:solidFill>
                <a:srgbClr val="F5D0FE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97015" y="1858328"/>
              <a:ext cx="45751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EA5E9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79945" y="19554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提出假设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14160" y="242316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列出证据支持和反证。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220200" y="1695450"/>
              <a:ext cx="2438400" cy="1352550"/>
            </a:xfrm>
            <a:prstGeom prst="roundRect">
              <a:avLst>
                <a:gd name="adj" fmla="val 11268"/>
              </a:avLst>
            </a:prstGeom>
            <a:solidFill>
              <a:srgbClr val="FFF8FF"/>
            </a:solidFill>
            <a:ln w="9525">
              <a:solidFill>
                <a:srgbClr val="F5D0FE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92615" y="1858328"/>
              <a:ext cx="45751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EA5E9"/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075545" y="19554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补采证据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09760" y="2423160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选择能区分假设的最小检查。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448050"/>
              <a:ext cx="3429000" cy="1619250"/>
            </a:xfrm>
            <a:prstGeom prst="roundRect">
              <a:avLst>
                <a:gd name="adj" fmla="val 9412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17245" y="37461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置信度标签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2960" y="4175760"/>
              <a:ext cx="13026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High：证据闭环。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2960" y="4442460"/>
              <a:ext cx="17026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Medium：缺关键反证。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2960" y="4709160"/>
              <a:ext cx="19267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Low：只是一条候选路径。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381500" y="3448050"/>
              <a:ext cx="3429000" cy="1619250"/>
            </a:xfrm>
            <a:prstGeom prst="roundRect">
              <a:avLst>
                <a:gd name="adj" fmla="val 9412"/>
              </a:avLst>
            </a:prstGeom>
            <a:solidFill>
              <a:srgbClr val="FFF8FF"/>
            </a:solidFill>
            <a:ln w="9525">
              <a:solidFill>
                <a:srgbClr val="F5D0FE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65345" y="37461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修复前提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71060" y="421386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证据足以收窄问题后，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71060" y="44996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才进入最小修改和回归。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229600" y="3448050"/>
              <a:ext cx="3429000" cy="1619250"/>
            </a:xfrm>
            <a:prstGeom prst="roundRect">
              <a:avLst>
                <a:gd name="adj" fmla="val 9412"/>
              </a:avLst>
            </a:prstGeom>
            <a:solidFill>
              <a:srgbClr val="FAE8FF"/>
            </a:solidFill>
            <a:ln w="19050">
              <a:solidFill>
                <a:srgbClr val="C026D3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513445" y="37461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汇报价值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19160" y="421386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每个结论都能追到日志。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19160" y="44996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不是模型口头判断。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38" name="TextBox 38"/>
            <p:cNvSpPr txBox="1"/>
            <p:nvPr/>
          </p:nvSpPr>
          <p:spPr>
            <a:xfrm>
              <a:off x="521970" y="6246495"/>
              <a:ext cx="16430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ai-agent/failure_triage.md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37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4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427672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C026D3"/>
                  </a:solidFill>
                  <a:latin typeface="Arial"/>
                  <a:ea typeface="Microsoft YaHei"/>
                  <a:cs typeface="Arial"/>
                </a:rPr>
                <a:t>必须明确人工确认边界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FF8FF"/>
            </a:solidFill>
            <a:ln w="9525">
              <a:solidFill>
                <a:srgbClr val="F5D0FE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8147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烧录、寄存器、安全和证据冲突都必须停下来。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C026D3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533400" y="1714500"/>
            <a:ext cx="11125200" cy="3429000"/>
            <a:chOff x="533400" y="1714500"/>
            <a:chExt cx="11125200" cy="3429000"/>
          </a:xfrm>
        </p:grpSpPr>
        <p:sp>
          <p:nvSpPr>
            <p:cNvPr id="8" name="Rectangle 8"/>
            <p:cNvSpPr/>
            <p:nvPr/>
          </p:nvSpPr>
          <p:spPr>
            <a:xfrm>
              <a:off x="533400" y="1714500"/>
              <a:ext cx="3429000" cy="3429000"/>
            </a:xfrm>
            <a:prstGeom prst="roundRect">
              <a:avLst>
                <a:gd name="adj" fmla="val 4444"/>
              </a:avLst>
            </a:prstGeom>
            <a:solidFill>
              <a:srgbClr val="FFF8FF"/>
            </a:solidFill>
            <a:ln w="9525">
              <a:solidFill>
                <a:srgbClr val="F5D0FE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7245" y="20507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助手负责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2960" y="26517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做最小、可审查修改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2960" y="299466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使用项目既有模式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2960" y="33375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运行可重复命令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2960" y="36804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保留日志和不确定性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381500" y="1714500"/>
              <a:ext cx="3429000" cy="3429000"/>
            </a:xfrm>
            <a:prstGeom prst="roundRect">
              <a:avLst>
                <a:gd name="adj" fmla="val 4444"/>
              </a:avLst>
            </a:prstGeom>
            <a:solidFill>
              <a:srgbClr val="FFF8FF"/>
            </a:solidFill>
            <a:ln w="9525">
              <a:solidFill>
                <a:srgbClr val="F5D0F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65345" y="20507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工程师负责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71060" y="26517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确认需求与风险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71060" y="299466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审批烧录和寄存器动作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71060" y="333756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审查硬件安全假设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71060" y="368046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签收最终交接材料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229600" y="1714500"/>
              <a:ext cx="3429000" cy="3429000"/>
            </a:xfrm>
            <a:prstGeom prst="roundRect">
              <a:avLst>
                <a:gd name="adj" fmla="val 4444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13445" y="20507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必须停止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19160" y="26517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可能损坏硬件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19160" y="29946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涉及启动或闪存布局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19160" y="33375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需要写寄存器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19160" y="36804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证据与根因冲突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27" name="TextBox 27"/>
            <p:cNvSpPr txBox="1"/>
            <p:nvPr/>
          </p:nvSpPr>
          <p:spPr>
            <a:xfrm>
              <a:off x="521970" y="6246495"/>
              <a:ext cx="19671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ai-agent/operation_contract.md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38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511683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59669"/>
                  </a:solidFill>
                  <a:latin typeface="Arial"/>
                  <a:ea typeface="Microsoft YaHei"/>
                  <a:cs typeface="Arial"/>
                </a:rPr>
                <a:t>主线六：不同项目如何接入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7FEFA"/>
            </a:solidFill>
            <a:ln w="9525">
              <a:solidFill>
                <a:srgbClr val="BBF7D0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把项目差异写成配置，而不是藏在脚本里。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66750" y="1752600"/>
            <a:ext cx="10858500" cy="3429000"/>
            <a:chOff x="666750" y="1752600"/>
            <a:chExt cx="10858500" cy="3429000"/>
          </a:xfrm>
        </p:grpSpPr>
        <p:sp>
          <p:nvSpPr>
            <p:cNvPr id="8" name="Rectangle 8"/>
            <p:cNvSpPr/>
            <p:nvPr/>
          </p:nvSpPr>
          <p:spPr>
            <a:xfrm>
              <a:off x="666750" y="1752600"/>
              <a:ext cx="10858500" cy="3429000"/>
            </a:xfrm>
            <a:prstGeom prst="roundRect">
              <a:avLst>
                <a:gd name="adj" fmla="val 5000"/>
              </a:avLst>
            </a:prstGeom>
            <a:solidFill>
              <a:srgbClr val="F7FEFA"/>
            </a:solidFill>
            <a:ln w="9525">
              <a:solidFill>
                <a:srgbClr val="BBF7D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047750" y="2152650"/>
              <a:ext cx="1619250" cy="819150"/>
            </a:xfrm>
            <a:prstGeom prst="roundRect">
              <a:avLst>
                <a:gd name="adj" fmla="val 16279"/>
              </a:avLst>
            </a:prstGeom>
            <a:solidFill>
              <a:srgbClr val="DCFC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12545" y="2469832"/>
              <a:ext cx="87361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project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048000" y="2152650"/>
              <a:ext cx="1619250" cy="819150"/>
            </a:xfrm>
            <a:prstGeom prst="roundRect">
              <a:avLst>
                <a:gd name="adj" fmla="val 16279"/>
              </a:avLst>
            </a:prstGeom>
            <a:solidFill>
              <a:srgbClr val="DCFC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388995" y="24698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构建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048250" y="2152650"/>
              <a:ext cx="1619250" cy="819150"/>
            </a:xfrm>
            <a:prstGeom prst="roundRect">
              <a:avLst>
                <a:gd name="adj" fmla="val 16279"/>
              </a:avLst>
            </a:prstGeom>
            <a:solidFill>
              <a:srgbClr val="DCFC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408295" y="24698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烧录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048500" y="2152650"/>
              <a:ext cx="1619250" cy="819150"/>
            </a:xfrm>
            <a:prstGeom prst="roundRect">
              <a:avLst>
                <a:gd name="adj" fmla="val 16279"/>
              </a:avLst>
            </a:prstGeom>
            <a:solidFill>
              <a:srgbClr val="DCFC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08545" y="2469832"/>
              <a:ext cx="68879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serial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048750" y="2152650"/>
              <a:ext cx="1619250" cy="819150"/>
            </a:xfrm>
            <a:prstGeom prst="roundRect">
              <a:avLst>
                <a:gd name="adj" fmla="val 16279"/>
              </a:avLst>
            </a:prstGeom>
            <a:solidFill>
              <a:srgbClr val="DCFC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08795" y="24698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测试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857375" y="3352800"/>
              <a:ext cx="8001000" cy="9525"/>
            </a:xfrm>
            <a:custGeom>
              <a:avLst/>
              <a:gdLst/>
              <a:ahLst/>
              <a:cxnLst/>
              <a:rect l="l" t="t" r="r" b="b"/>
              <a:pathLst>
                <a:path w="8001000" h="9525">
                  <a:moveTo>
                    <a:pt x="0" y="0"/>
                  </a:moveTo>
                  <a:lnTo>
                    <a:pt x="8001000" y="0"/>
                  </a:lnTo>
                </a:path>
              </a:pathLst>
            </a:custGeom>
            <a:noFill/>
            <a:ln w="38100">
              <a:solidFill>
                <a:srgbClr val="0EA5E9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762125" y="3257550"/>
              <a:ext cx="190500" cy="190500"/>
            </a:xfrm>
            <a:prstGeom prst="ellipse">
              <a:avLst/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3762375" y="3257550"/>
              <a:ext cx="190500" cy="190500"/>
            </a:xfrm>
            <a:prstGeom prst="ellipse">
              <a:avLst/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762625" y="3257550"/>
              <a:ext cx="190500" cy="190500"/>
            </a:xfrm>
            <a:prstGeom prst="ellipse">
              <a:avLst/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7762875" y="3257550"/>
              <a:ext cx="190500" cy="190500"/>
            </a:xfrm>
            <a:prstGeom prst="ellipse">
              <a:avLst/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9763125" y="3257550"/>
              <a:ext cx="190500" cy="190500"/>
            </a:xfrm>
            <a:prstGeom prst="ellipse">
              <a:avLst/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571750" y="3829050"/>
              <a:ext cx="7048500" cy="838200"/>
            </a:xfrm>
            <a:prstGeom prst="roundRect">
              <a:avLst>
                <a:gd name="adj" fmla="val 15909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027045" y="4155758"/>
              <a:ext cx="46624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统一输出：运行清单、日志、摘要、交接报告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28" name="TextBox 28"/>
            <p:cNvSpPr txBox="1"/>
            <p:nvPr/>
          </p:nvSpPr>
          <p:spPr>
            <a:xfrm>
              <a:off x="521970" y="6246495"/>
              <a:ext cx="24831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workflow-template/project-adapter.json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39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343662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59669"/>
                  </a:solidFill>
                  <a:latin typeface="Arial"/>
                  <a:ea typeface="Microsoft YaHei"/>
                  <a:cs typeface="Arial"/>
                </a:rPr>
                <a:t>三类项目接入样例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7FEFA"/>
            </a:solidFill>
            <a:ln w="9525">
              <a:solidFill>
                <a:srgbClr val="BBF7D0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41748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命令型设备、传感器网关、协议设备都能复用闭环。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533400" y="1752600"/>
            <a:ext cx="11125200" cy="3429000"/>
            <a:chOff x="533400" y="1752600"/>
            <a:chExt cx="11125200" cy="3429000"/>
          </a:xfrm>
        </p:grpSpPr>
        <p:sp>
          <p:nvSpPr>
            <p:cNvPr id="8" name="Rectangle 8"/>
            <p:cNvSpPr/>
            <p:nvPr/>
          </p:nvSpPr>
          <p:spPr>
            <a:xfrm>
              <a:off x="533400" y="1752600"/>
              <a:ext cx="3429000" cy="3429000"/>
            </a:xfrm>
            <a:prstGeom prst="roundRect">
              <a:avLst>
                <a:gd name="adj" fmla="val 4444"/>
              </a:avLst>
            </a:prstGeom>
            <a:solidFill>
              <a:srgbClr val="F7FEFA"/>
            </a:solidFill>
            <a:ln w="9525">
              <a:solidFill>
                <a:srgbClr val="BBF7D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7245" y="2069782"/>
              <a:ext cx="16244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基础 Shell 项目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2960" y="2632710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CubeMX 或 CMake 构建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2960" y="2956560"/>
              <a:ext cx="9745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ST-LINK 烧录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2960" y="3280410"/>
              <a:ext cx="10706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UART 命令回显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2960" y="360426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版本、帮助、自检命令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381500" y="1752600"/>
              <a:ext cx="3429000" cy="3429000"/>
            </a:xfrm>
            <a:prstGeom prst="roundRect">
              <a:avLst>
                <a:gd name="adj" fmla="val 4444"/>
              </a:avLst>
            </a:prstGeom>
            <a:solidFill>
              <a:srgbClr val="F7FEFA"/>
            </a:solidFill>
            <a:ln w="9525">
              <a:solidFill>
                <a:srgbClr val="BBF7D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65345" y="20697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传感器网关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71060" y="2632710"/>
              <a:ext cx="12626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I2C 或 SPI 传感器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71060" y="29565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数据范围检查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71060" y="328041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采样稳定性统计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71060" y="36042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异常样本留档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229600" y="1752600"/>
              <a:ext cx="3429000" cy="3429000"/>
            </a:xfrm>
            <a:prstGeom prst="roundRect">
              <a:avLst>
                <a:gd name="adj" fmla="val 4444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13445" y="20697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协议设备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19160" y="2632710"/>
              <a:ext cx="15266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GNSS、Modbus、CAN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19160" y="2956560"/>
              <a:ext cx="15106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frame count 与 CRC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19160" y="328041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坏帧样本归档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19160" y="360426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协议摘要进入交接报告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27" name="TextBox 27"/>
            <p:cNvSpPr txBox="1"/>
            <p:nvPr/>
          </p:nvSpPr>
          <p:spPr>
            <a:xfrm>
              <a:off x="521970" y="6246495"/>
              <a:ext cx="25491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docs/adapt-your-stm32-project.zh-CN.md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40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427672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59669"/>
                  </a:solidFill>
                  <a:latin typeface="Arial"/>
                  <a:ea typeface="Microsoft YaHei"/>
                  <a:cs typeface="Arial"/>
                </a:rPr>
                <a:t>接入前先收集必要输入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7FEFA"/>
            </a:solidFill>
            <a:ln w="9525">
              <a:solidFill>
                <a:srgbClr val="BBF7D0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工程输入和风险输入都要在试点前说清楚。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33400" y="1714500"/>
            <a:ext cx="11125200" cy="3429000"/>
            <a:chOff x="533400" y="1714500"/>
            <a:chExt cx="11125200" cy="3429000"/>
          </a:xfrm>
        </p:grpSpPr>
        <p:sp>
          <p:nvSpPr>
            <p:cNvPr id="8" name="Rectangle 8"/>
            <p:cNvSpPr/>
            <p:nvPr/>
          </p:nvSpPr>
          <p:spPr>
            <a:xfrm>
              <a:off x="533400" y="1714500"/>
              <a:ext cx="5219700" cy="3429000"/>
            </a:xfrm>
            <a:prstGeom prst="roundRect">
              <a:avLst>
                <a:gd name="adj" fmla="val 4444"/>
              </a:avLst>
            </a:prstGeom>
            <a:solidFill>
              <a:srgbClr val="F7FEFA"/>
            </a:solidFill>
            <a:ln w="9525">
              <a:solidFill>
                <a:srgbClr val="BBF7D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7245" y="20316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工程输入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0102" y="2627471"/>
              <a:ext cx="155638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固件仓库或导出包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0102" y="2970371"/>
              <a:ext cx="200294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MCU、板卡、boot 配置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0102" y="3313271"/>
              <a:ext cx="188892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构建命令与 toolchain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0102" y="3656171"/>
              <a:ext cx="174640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烧录方式与连接参数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0102" y="3999071"/>
              <a:ext cx="193643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串口、协议口、测试口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438900" y="1714500"/>
              <a:ext cx="5219700" cy="3429000"/>
            </a:xfrm>
            <a:prstGeom prst="roundRect">
              <a:avLst>
                <a:gd name="adj" fmla="val 4444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722745" y="20316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风险输入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25602" y="2627471"/>
              <a:ext cx="231648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哪些命令可能改变现场状态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25602" y="2970371"/>
              <a:ext cx="212645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哪些寄存器只能读不能写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25602" y="3313271"/>
              <a:ext cx="269652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看门狗、电源、隔离和负载假设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25602" y="3656171"/>
              <a:ext cx="212645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失败时谁确认下一步动作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25602" y="3999071"/>
              <a:ext cx="174640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交付报告需要给谁看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21970" y="6246495"/>
            <a:ext cx="11062906" cy="182880"/>
            <a:chOff x="521970" y="6246495"/>
            <a:chExt cx="11062906" cy="182880"/>
          </a:xfrm>
        </p:grpSpPr>
        <p:sp>
          <p:nvSpPr>
            <p:cNvPr id="23" name="TextBox 23"/>
            <p:cNvSpPr txBox="1"/>
            <p:nvPr/>
          </p:nvSpPr>
          <p:spPr>
            <a:xfrm>
              <a:off x="521970" y="6246495"/>
              <a:ext cx="25491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docs/adapt-your-stm32-project.zh-CN.md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189970" y="624649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41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343662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59669"/>
                  </a:solidFill>
                  <a:latin typeface="Arial"/>
                  <a:ea typeface="Microsoft YaHei"/>
                  <a:cs typeface="Arial"/>
                </a:rPr>
                <a:t>一周试点如何推进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7FEFA"/>
            </a:solidFill>
            <a:ln w="9525">
              <a:solidFill>
                <a:srgbClr val="BBF7D0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先小范围跑通真实链路，再判断是否扩大。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33400" y="1790700"/>
            <a:ext cx="11224260" cy="3048000"/>
            <a:chOff x="533400" y="1790700"/>
            <a:chExt cx="11224260" cy="3048000"/>
          </a:xfrm>
        </p:grpSpPr>
        <p:sp>
          <p:nvSpPr>
            <p:cNvPr id="8" name="Rectangle 8"/>
            <p:cNvSpPr/>
            <p:nvPr/>
          </p:nvSpPr>
          <p:spPr>
            <a:xfrm>
              <a:off x="533400" y="1790700"/>
              <a:ext cx="2000250" cy="3048000"/>
            </a:xfrm>
            <a:prstGeom prst="roundRect">
              <a:avLst>
                <a:gd name="adj" fmla="val 7619"/>
              </a:avLst>
            </a:prstGeom>
            <a:solidFill>
              <a:srgbClr val="F7FEFA"/>
            </a:solidFill>
            <a:ln w="9525">
              <a:solidFill>
                <a:srgbClr val="BBF7D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5815" y="2029778"/>
              <a:ext cx="36825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EA5E9"/>
                  </a:solidFill>
                  <a:latin typeface="Consolas"/>
                  <a:ea typeface="Microsoft YaHei"/>
                  <a:cs typeface="Consolas"/>
                </a:rPr>
                <a:t>D1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7245" y="26031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梳理输入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2960" y="310896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仓库、硬件、风险、验收口径。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819400" y="1790700"/>
              <a:ext cx="2000250" cy="3048000"/>
            </a:xfrm>
            <a:prstGeom prst="roundRect">
              <a:avLst>
                <a:gd name="adj" fmla="val 7619"/>
              </a:avLst>
            </a:prstGeom>
            <a:solidFill>
              <a:srgbClr val="F7FEFA"/>
            </a:solidFill>
            <a:ln w="9525">
              <a:solidFill>
                <a:srgbClr val="BBF7D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091815" y="2029778"/>
              <a:ext cx="45751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EA5E9"/>
                  </a:solidFill>
                  <a:latin typeface="Consolas"/>
                  <a:ea typeface="Microsoft YaHei"/>
                  <a:cs typeface="Consolas"/>
                </a:rPr>
                <a:t>D2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03245" y="26031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接入构建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08960" y="310896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固化构建和产物输出。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105400" y="1790700"/>
              <a:ext cx="2000250" cy="3048000"/>
            </a:xfrm>
            <a:prstGeom prst="roundRect">
              <a:avLst>
                <a:gd name="adj" fmla="val 7619"/>
              </a:avLst>
            </a:prstGeom>
            <a:solidFill>
              <a:srgbClr val="F7FEFA"/>
            </a:solidFill>
            <a:ln w="9525">
              <a:solidFill>
                <a:srgbClr val="BBF7D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377815" y="2029778"/>
              <a:ext cx="45751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EA5E9"/>
                  </a:solidFill>
                  <a:latin typeface="Consolas"/>
                  <a:ea typeface="Microsoft YaHei"/>
                  <a:cs typeface="Consolas"/>
                </a:rPr>
                <a:t>D3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89245" y="26031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接入硬件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94960" y="310896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烧录、串口、基础自检。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391400" y="1790700"/>
              <a:ext cx="2000250" cy="3048000"/>
            </a:xfrm>
            <a:prstGeom prst="roundRect">
              <a:avLst>
                <a:gd name="adj" fmla="val 7619"/>
              </a:avLst>
            </a:prstGeom>
            <a:solidFill>
              <a:srgbClr val="F7FEFA"/>
            </a:solidFill>
            <a:ln w="9525">
              <a:solidFill>
                <a:srgbClr val="BBF7D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63815" y="2029778"/>
              <a:ext cx="45751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EA5E9"/>
                  </a:solidFill>
                  <a:latin typeface="Consolas"/>
                  <a:ea typeface="Microsoft YaHei"/>
                  <a:cs typeface="Consolas"/>
                </a:rPr>
                <a:t>D4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75245" y="26031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沉淀测试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80960" y="310896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协议、异常、回归门禁。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677400" y="1790700"/>
              <a:ext cx="1981200" cy="3048000"/>
            </a:xfrm>
            <a:prstGeom prst="roundRect">
              <a:avLst>
                <a:gd name="adj" fmla="val 7692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949815" y="2029778"/>
              <a:ext cx="45751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6A34A"/>
                  </a:solidFill>
                  <a:latin typeface="Consolas"/>
                  <a:ea typeface="Microsoft YaHei"/>
                  <a:cs typeface="Consolas"/>
                </a:rPr>
                <a:t>D5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961245" y="26031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交付证据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966960" y="310896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清单、报告、后续提交。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29" name="TextBox 29"/>
            <p:cNvSpPr txBox="1"/>
            <p:nvPr/>
          </p:nvSpPr>
          <p:spPr>
            <a:xfrm>
              <a:off x="521970" y="6246495"/>
              <a:ext cx="13190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Adopt-it pilot framing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42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427672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商业价值来自哪些场景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FF9F3"/>
            </a:solidFill>
            <a:ln w="9525">
              <a:solidFill>
                <a:srgbClr val="FED7AA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8147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板级启动、回归、诊断、交接和远程硬件验证。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33400" y="1752600"/>
            <a:ext cx="11125200" cy="3714750"/>
            <a:chOff x="533400" y="1752600"/>
            <a:chExt cx="11125200" cy="371475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rcRect l="0" t="20335" r="0" b="20335"/>
            <a:stretch>
              <a:fillRect/>
            </a:stretch>
          </p:blipFill>
          <p:spPr>
            <a:xfrm>
              <a:off x="533400" y="1752600"/>
              <a:ext cx="11125200" cy="3714750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533400" y="1752600"/>
              <a:ext cx="11125200" cy="3714750"/>
            </a:xfrm>
            <a:prstGeom prst="roundRect">
              <a:avLst>
                <a:gd name="adj" fmla="val 4103"/>
              </a:avLst>
            </a:prstGeom>
            <a:solidFill>
              <a:srgbClr val="FFFFFF">
                <a:alpha val="0"/>
              </a:srgbClr>
            </a:solidFill>
            <a:ln w="19050">
              <a:solidFill>
                <a:srgbClr val="FED7A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19150" y="4476750"/>
              <a:ext cx="2019300" cy="552450"/>
            </a:xfrm>
            <a:prstGeom prst="roundRect">
              <a:avLst>
                <a:gd name="adj" fmla="val 25862"/>
              </a:avLst>
            </a:prstGeom>
            <a:solidFill>
              <a:srgbClr val="FFF9F3"/>
            </a:solidFill>
            <a:ln w="9525">
              <a:solidFill>
                <a:srgbClr val="FED7A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49655" y="4673918"/>
              <a:ext cx="114952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板级 bringup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028950" y="4476750"/>
              <a:ext cx="2019300" cy="552450"/>
            </a:xfrm>
            <a:prstGeom prst="roundRect">
              <a:avLst>
                <a:gd name="adj" fmla="val 25862"/>
              </a:avLst>
            </a:prstGeom>
            <a:solidFill>
              <a:srgbClr val="FFF9F3"/>
            </a:solidFill>
            <a:ln w="9525">
              <a:solidFill>
                <a:srgbClr val="FED7A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259455" y="46739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固件回归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238750" y="4476750"/>
              <a:ext cx="2019300" cy="552450"/>
            </a:xfrm>
            <a:prstGeom prst="roundRect">
              <a:avLst>
                <a:gd name="adj" fmla="val 25862"/>
              </a:avLst>
            </a:prstGeom>
            <a:solidFill>
              <a:srgbClr val="FFF9F3"/>
            </a:solidFill>
            <a:ln w="9525">
              <a:solidFill>
                <a:srgbClr val="FED7A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469255" y="46739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智能诊断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448550" y="4476750"/>
              <a:ext cx="2019300" cy="552450"/>
            </a:xfrm>
            <a:prstGeom prst="roundRect">
              <a:avLst>
                <a:gd name="adj" fmla="val 25862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79055" y="46739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交接证据包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658350" y="4476750"/>
              <a:ext cx="1714500" cy="552450"/>
            </a:xfrm>
            <a:prstGeom prst="roundRect">
              <a:avLst>
                <a:gd name="adj" fmla="val 25862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88855" y="46739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远程硬件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21" name="TextBox 21"/>
            <p:cNvSpPr txBox="1"/>
            <p:nvPr/>
          </p:nvSpPr>
          <p:spPr>
            <a:xfrm>
              <a:off x="521970" y="6246495"/>
              <a:ext cx="18830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docs/commercial-use-cases.md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43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385667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收益模型要讲清边界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FF9F3"/>
            </a:solidFill>
            <a:ln w="9525">
              <a:solidFill>
                <a:srgbClr val="FED7AA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压缩重复工程劳动，不替代最终技术责任。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762000" y="1752600"/>
            <a:ext cx="10668000" cy="3924300"/>
            <a:chOff x="762000" y="1752600"/>
            <a:chExt cx="10668000" cy="3924300"/>
          </a:xfrm>
        </p:grpSpPr>
        <p:sp>
          <p:nvSpPr>
            <p:cNvPr id="8" name="Rectangle 8"/>
            <p:cNvSpPr/>
            <p:nvPr/>
          </p:nvSpPr>
          <p:spPr>
            <a:xfrm>
              <a:off x="762000" y="1752600"/>
              <a:ext cx="4762500" cy="2857500"/>
            </a:xfrm>
            <a:prstGeom prst="roundRect">
              <a:avLst>
                <a:gd name="adj" fmla="val 6000"/>
              </a:avLst>
            </a:prstGeom>
            <a:solidFill>
              <a:srgbClr val="FFF9F3"/>
            </a:solidFill>
            <a:ln w="9525">
              <a:solidFill>
                <a:srgbClr val="FED7A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45845" y="20697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传统手工估算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05840" y="2415540"/>
              <a:ext cx="1802130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15-25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22295" y="27555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工程人天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1560" y="3394710"/>
              <a:ext cx="46710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消耗在构建修复、烧录验证、日志分析、回归整理和交接材料上。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667500" y="1752600"/>
              <a:ext cx="4762500" cy="2857500"/>
            </a:xfrm>
            <a:prstGeom prst="roundRect">
              <a:avLst>
                <a:gd name="adj" fmla="val 6000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51345" y="2069782"/>
              <a:ext cx="168221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Liakia 试点估算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11340" y="2415540"/>
              <a:ext cx="491566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6A34A"/>
                  </a:solidFill>
                  <a:latin typeface="Consolas"/>
                  <a:ea typeface="Microsoft YaHei"/>
                  <a:cs typeface="Consola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99045" y="275558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天左右完成闭环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57060" y="3394710"/>
              <a:ext cx="35509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前提是范围清楚、硬件可用、人工确认边界明确。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5010150"/>
              <a:ext cx="10668000" cy="666750"/>
            </a:xfrm>
            <a:prstGeom prst="roundRect">
              <a:avLst>
                <a:gd name="adj" fmla="val 22857"/>
              </a:avLst>
            </a:prstGeom>
            <a:solidFill>
              <a:srgbClr val="FFEDD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45845" y="5251132"/>
              <a:ext cx="770051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不能压缩：原理图审查、电源隔离、EMC 风险、安全逻辑、最终技术签收。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21" name="TextBox 21"/>
            <p:cNvSpPr txBox="1"/>
            <p:nvPr/>
          </p:nvSpPr>
          <p:spPr>
            <a:xfrm>
              <a:off x="521970" y="6246495"/>
              <a:ext cx="11329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docs/roi_model.md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44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385667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后续提交应该怎么写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FF9F3"/>
            </a:solidFill>
            <a:ln w="9525">
              <a:solidFill>
                <a:srgbClr val="FED7AA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41748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每次提交都说清问题、改动、证据、风险和下一步。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533400" y="1695450"/>
            <a:ext cx="11468100" cy="2971800"/>
            <a:chOff x="533400" y="1695450"/>
            <a:chExt cx="11468100" cy="2971800"/>
          </a:xfrm>
        </p:grpSpPr>
        <p:sp>
          <p:nvSpPr>
            <p:cNvPr id="8" name="Rectangle 8"/>
            <p:cNvSpPr/>
            <p:nvPr/>
          </p:nvSpPr>
          <p:spPr>
            <a:xfrm>
              <a:off x="533400" y="1695450"/>
              <a:ext cx="11125200" cy="742950"/>
            </a:xfrm>
            <a:prstGeom prst="roundRect">
              <a:avLst>
                <a:gd name="adj" fmla="val 20513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7245" y="1984058"/>
              <a:ext cx="437370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提交 = 问题 + 改动 + 证据 + 风险 + 下一步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33400" y="2914650"/>
              <a:ext cx="2057400" cy="1752600"/>
            </a:xfrm>
            <a:prstGeom prst="roundRect">
              <a:avLst>
                <a:gd name="adj" fmla="val 8696"/>
              </a:avLst>
            </a:prstGeom>
            <a:solidFill>
              <a:srgbClr val="FFF9F3"/>
            </a:solidFill>
            <a:ln w="9525">
              <a:solidFill>
                <a:srgbClr val="FED7A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7245" y="32318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问题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2960" y="3775710"/>
              <a:ext cx="2430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为什么现在要改，影响哪个读者。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800350" y="2914650"/>
              <a:ext cx="2057400" cy="1752600"/>
            </a:xfrm>
            <a:prstGeom prst="roundRect">
              <a:avLst>
                <a:gd name="adj" fmla="val 8696"/>
              </a:avLst>
            </a:prstGeom>
            <a:solidFill>
              <a:srgbClr val="FFF9F3"/>
            </a:solidFill>
            <a:ln w="9525">
              <a:solidFill>
                <a:srgbClr val="FED7A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084195" y="32318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改动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89910" y="3775710"/>
              <a:ext cx="2430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页面、文档、脚本或证据包变化。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067300" y="2914650"/>
              <a:ext cx="2057400" cy="1752600"/>
            </a:xfrm>
            <a:prstGeom prst="roundRect">
              <a:avLst>
                <a:gd name="adj" fmla="val 8696"/>
              </a:avLst>
            </a:prstGeom>
            <a:solidFill>
              <a:srgbClr val="FFEDD5"/>
            </a:solidFill>
            <a:ln w="19050">
              <a:solidFill>
                <a:srgbClr val="EA580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351145" y="32318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证据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56860" y="377571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日志、截图、清单、命令输出。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334250" y="2914650"/>
              <a:ext cx="2057400" cy="1752600"/>
            </a:xfrm>
            <a:prstGeom prst="roundRect">
              <a:avLst>
                <a:gd name="adj" fmla="val 8696"/>
              </a:avLst>
            </a:prstGeom>
            <a:solidFill>
              <a:srgbClr val="FFF9F3"/>
            </a:solidFill>
            <a:ln w="9525">
              <a:solidFill>
                <a:srgbClr val="FED7A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18095" y="32318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风险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3810" y="3775710"/>
              <a:ext cx="2430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没覆盖什么，哪些结论不能外推。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601200" y="2914650"/>
              <a:ext cx="2057400" cy="1752600"/>
            </a:xfrm>
            <a:prstGeom prst="roundRect">
              <a:avLst>
                <a:gd name="adj" fmla="val 8696"/>
              </a:avLst>
            </a:prstGeom>
            <a:solidFill>
              <a:srgbClr val="FFF9F3"/>
            </a:solidFill>
            <a:ln w="9525">
              <a:solidFill>
                <a:srgbClr val="FED7A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885045" y="323183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下一步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90760" y="3775710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下一批提交要解决哪个断点。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26" name="TextBox 26"/>
            <p:cNvSpPr txBox="1"/>
            <p:nvPr/>
          </p:nvSpPr>
          <p:spPr>
            <a:xfrm>
              <a:off x="521970" y="6246495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建议的提交说明模型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45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385667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后续工作分几批推进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FF9F3"/>
            </a:solidFill>
            <a:ln w="9525">
              <a:solidFill>
                <a:srgbClr val="FED7AA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入口、证据、案例、适配样例和试点材料包。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533400" y="1714500"/>
            <a:ext cx="11125200" cy="3352800"/>
            <a:chOff x="533400" y="1714500"/>
            <a:chExt cx="11125200" cy="3352800"/>
          </a:xfrm>
        </p:grpSpPr>
        <p:sp>
          <p:nvSpPr>
            <p:cNvPr id="8" name="Rectangle 8"/>
            <p:cNvSpPr/>
            <p:nvPr/>
          </p:nvSpPr>
          <p:spPr>
            <a:xfrm>
              <a:off x="533400" y="1714500"/>
              <a:ext cx="3352800" cy="1428750"/>
            </a:xfrm>
            <a:prstGeom prst="roundRect">
              <a:avLst>
                <a:gd name="adj" fmla="val 10667"/>
              </a:avLst>
            </a:prstGeom>
            <a:solidFill>
              <a:srgbClr val="FFF9F3"/>
            </a:solidFill>
            <a:ln w="9525">
              <a:solidFill>
                <a:srgbClr val="FED7A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7245" y="2031682"/>
              <a:ext cx="186703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第 1 批：入口叙事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2960" y="248031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首页从路线卡片升级为可信闭环导览。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419600" y="1714500"/>
              <a:ext cx="3352800" cy="1428750"/>
            </a:xfrm>
            <a:prstGeom prst="roundRect">
              <a:avLst>
                <a:gd name="adj" fmla="val 10667"/>
              </a:avLst>
            </a:prstGeom>
            <a:solidFill>
              <a:srgbClr val="FFF9F3"/>
            </a:solidFill>
            <a:ln w="9525">
              <a:solidFill>
                <a:srgbClr val="FED7A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703445" y="2031682"/>
              <a:ext cx="19247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第 2 批：证据浏览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09160" y="2480310"/>
              <a:ext cx="2430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清单、日志、摘要做成可读索引。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05800" y="1714500"/>
              <a:ext cx="3352800" cy="1428750"/>
            </a:xfrm>
            <a:prstGeom prst="roundRect">
              <a:avLst>
                <a:gd name="adj" fmla="val 10667"/>
              </a:avLst>
            </a:prstGeom>
            <a:solidFill>
              <a:srgbClr val="FFF9F3"/>
            </a:solidFill>
            <a:ln w="9525">
              <a:solidFill>
                <a:srgbClr val="FED7A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89645" y="2031682"/>
              <a:ext cx="19247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第 3 批：练习案例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95360" y="2480310"/>
              <a:ext cx="28628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6"/>
                  </a:solidFill>
                  <a:latin typeface="Arial"/>
                  <a:ea typeface="Microsoft YaHei"/>
                  <a:cs typeface="Arial"/>
                </a:rPr>
                <a:t>补 known-bad、修复 diff、回归结果。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476500" y="3638550"/>
              <a:ext cx="3352800" cy="1428750"/>
            </a:xfrm>
            <a:prstGeom prst="roundRect">
              <a:avLst>
                <a:gd name="adj" fmla="val 10667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760345" y="3955732"/>
              <a:ext cx="19247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 4 批：适配样例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66060" y="4404360"/>
              <a:ext cx="25187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给三类 STM32 项目提供可改配置。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362700" y="3638550"/>
              <a:ext cx="3352800" cy="1428750"/>
            </a:xfrm>
            <a:prstGeom prst="roundRect">
              <a:avLst>
                <a:gd name="adj" fmla="val 10667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46545" y="3955732"/>
              <a:ext cx="215582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 5 批：试点材料包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52260" y="4404360"/>
              <a:ext cx="2430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输入清单、验收清单、交付模板。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24" name="TextBox 24"/>
            <p:cNvSpPr txBox="1"/>
            <p:nvPr/>
          </p:nvSpPr>
          <p:spPr>
            <a:xfrm>
              <a:off x="521970" y="6246495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建议的后续提交批次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46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5300" y="361950"/>
            <a:ext cx="11163300" cy="1066800"/>
            <a:chOff x="495300" y="361950"/>
            <a:chExt cx="11163300" cy="1066800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361950"/>
              <a:ext cx="469677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汇报时要回答的五个问题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11125200" cy="457200"/>
            </a:xfrm>
            <a:prstGeom prst="roundRect">
              <a:avLst>
                <a:gd name="adj" fmla="val 25000"/>
              </a:avLst>
            </a:prstGeom>
            <a:solidFill>
              <a:srgbClr val="FFF9F3"/>
            </a:solidFill>
            <a:ln w="9525">
              <a:solidFill>
                <a:srgbClr val="FED7AA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56149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232C"/>
                  </a:solidFill>
                  <a:latin typeface="Arial"/>
                  <a:ea typeface="Microsoft YaHei"/>
                  <a:cs typeface="Arial"/>
                </a:rPr>
                <a:t>问题是什么、证据在哪里、助手做什么、边界在哪里、下一步怎么走。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371600"/>
              <a:ext cx="11125200" cy="5715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762000" y="1714500"/>
            <a:ext cx="10668000" cy="4248150"/>
            <a:chOff x="762000" y="1714500"/>
            <a:chExt cx="10668000" cy="4248150"/>
          </a:xfrm>
        </p:grpSpPr>
        <p:sp>
          <p:nvSpPr>
            <p:cNvPr id="8" name="Rectangle 8"/>
            <p:cNvSpPr/>
            <p:nvPr/>
          </p:nvSpPr>
          <p:spPr>
            <a:xfrm>
              <a:off x="762000" y="1714500"/>
              <a:ext cx="10668000" cy="666750"/>
            </a:xfrm>
            <a:prstGeom prst="roundRect">
              <a:avLst>
                <a:gd name="adj" fmla="val 22857"/>
              </a:avLst>
            </a:prstGeom>
            <a:solidFill>
              <a:srgbClr val="FFF9F3"/>
            </a:solidFill>
            <a:ln w="9525">
              <a:solidFill>
                <a:srgbClr val="FED7A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45845" y="1965008"/>
              <a:ext cx="51823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1. Liakia 到底解决嵌入式交付里的哪个重复问题？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2609850"/>
              <a:ext cx="10668000" cy="666750"/>
            </a:xfrm>
            <a:prstGeom prst="roundRect">
              <a:avLst>
                <a:gd name="adj" fmla="val 22857"/>
              </a:avLst>
            </a:prstGeom>
            <a:solidFill>
              <a:srgbClr val="FFF9F3"/>
            </a:solidFill>
            <a:ln w="9525">
              <a:solidFill>
                <a:srgbClr val="FED7A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45845" y="2860358"/>
              <a:ext cx="51476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2. 仓库里有哪些证据能证明它不是纯文案 demo？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3505200"/>
              <a:ext cx="10668000" cy="666750"/>
            </a:xfrm>
            <a:prstGeom prst="roundRect">
              <a:avLst>
                <a:gd name="adj" fmla="val 22857"/>
              </a:avLst>
            </a:prstGeom>
            <a:solidFill>
              <a:srgbClr val="FFF9F3"/>
            </a:solidFill>
            <a:ln w="9525">
              <a:solidFill>
                <a:srgbClr val="FED7A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45845" y="3755708"/>
              <a:ext cx="521695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3. 助手在构建、烧录、测试、诊断中具体做什么？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4400550"/>
              <a:ext cx="10668000" cy="666750"/>
            </a:xfrm>
            <a:prstGeom prst="roundRect">
              <a:avLst>
                <a:gd name="adj" fmla="val 22857"/>
              </a:avLst>
            </a:prstGeom>
            <a:solidFill>
              <a:srgbClr val="FFF9F3"/>
            </a:solidFill>
            <a:ln w="9525">
              <a:solidFill>
                <a:srgbClr val="FED7A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45845" y="4651058"/>
              <a:ext cx="521695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2A"/>
                  </a:solidFill>
                  <a:latin typeface="Arial"/>
                  <a:ea typeface="Microsoft YaHei"/>
                  <a:cs typeface="Arial"/>
                </a:rPr>
                <a:t>4. 哪些动作必须由人确认，哪些风险不能自动化？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5295900"/>
              <a:ext cx="10668000" cy="666750"/>
            </a:xfrm>
            <a:prstGeom prst="roundRect">
              <a:avLst>
                <a:gd name="adj" fmla="val 22857"/>
              </a:avLst>
            </a:prstGeom>
            <a:solidFill>
              <a:srgbClr val="0B1F2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45845" y="5546408"/>
              <a:ext cx="567901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5. 下一批提交如何把它做成可试跑、可审查、可接入？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1970" y="6246495"/>
            <a:ext cx="11092910" cy="182880"/>
            <a:chOff x="521970" y="6246495"/>
            <a:chExt cx="11092910" cy="182880"/>
          </a:xfrm>
        </p:grpSpPr>
        <p:sp>
          <p:nvSpPr>
            <p:cNvPr id="19" name="TextBox 19"/>
            <p:cNvSpPr txBox="1"/>
            <p:nvPr/>
          </p:nvSpPr>
          <p:spPr>
            <a:xfrm>
              <a:off x="521970" y="6246495"/>
              <a:ext cx="14450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Presenter review script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89970" y="62464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47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93420" y="1017270"/>
            <a:ext cx="9210294" cy="1344930"/>
            <a:chOff x="693420" y="1017270"/>
            <a:chExt cx="9210294" cy="1344930"/>
          </a:xfrm>
        </p:grpSpPr>
        <p:sp>
          <p:nvSpPr>
            <p:cNvPr id="3" name="TextBox 3"/>
            <p:cNvSpPr txBox="1"/>
            <p:nvPr/>
          </p:nvSpPr>
          <p:spPr>
            <a:xfrm>
              <a:off x="693420" y="1017270"/>
              <a:ext cx="9210294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最终结论：做成可信工作流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8190" y="1996440"/>
              <a:ext cx="398221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让 Liakia 可审查、可试跑、可接入。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3429000"/>
            <a:ext cx="10668000" cy="1428750"/>
            <a:chOff x="762000" y="3429000"/>
            <a:chExt cx="10668000" cy="1428750"/>
          </a:xfrm>
        </p:grpSpPr>
        <p:sp>
          <p:nvSpPr>
            <p:cNvPr id="6" name="Rectangle 6"/>
            <p:cNvSpPr/>
            <p:nvPr/>
          </p:nvSpPr>
          <p:spPr>
            <a:xfrm>
              <a:off x="762000" y="3429000"/>
              <a:ext cx="3238500" cy="1428750"/>
            </a:xfrm>
            <a:prstGeom prst="roundRect">
              <a:avLst>
                <a:gd name="adj" fmla="val 10667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45845" y="37652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1560" y="4271010"/>
              <a:ext cx="2430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证据入口、日志索引、风险边界。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476750" y="3429000"/>
              <a:ext cx="3238500" cy="1428750"/>
            </a:xfrm>
            <a:prstGeom prst="roundRect">
              <a:avLst>
                <a:gd name="adj" fmla="val 10667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760595" y="37652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766310" y="4271010"/>
              <a:ext cx="29908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Starter-F103、known-bad、回归脚本。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191500" y="3429000"/>
              <a:ext cx="3238500" cy="1428750"/>
            </a:xfrm>
            <a:prstGeom prst="roundRect">
              <a:avLst>
                <a:gd name="adj" fmla="val 10667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75345" y="376523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可接入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81060" y="4271010"/>
              <a:ext cx="2430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7DF"/>
                  </a:solidFill>
                  <a:latin typeface="Arial"/>
                  <a:ea typeface="Microsoft YaHei"/>
                  <a:cs typeface="Arial"/>
                </a:rPr>
                <a:t>适配器、试点材料包、交付模板。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48665" y="6039802"/>
            <a:ext cx="10866215" cy="213360"/>
            <a:chOff x="748665" y="6039802"/>
            <a:chExt cx="10866215" cy="213360"/>
          </a:xfrm>
        </p:grpSpPr>
        <p:sp>
          <p:nvSpPr>
            <p:cNvPr id="16" name="TextBox 16"/>
            <p:cNvSpPr txBox="1"/>
            <p:nvPr/>
          </p:nvSpPr>
          <p:spPr>
            <a:xfrm>
              <a:off x="748665" y="6039802"/>
              <a:ext cx="12168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A0AA"/>
                  </a:solidFill>
                  <a:latin typeface="Arial"/>
                  <a:ea typeface="Microsoft YaHei"/>
                  <a:cs typeface="Arial"/>
                </a:rPr>
                <a:t>Liakia 汇报材料 v5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89970" y="60559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0AA"/>
                  </a:solidFill>
                  <a:latin typeface="Consolas"/>
                  <a:ea typeface="Microsoft YaHei"/>
                  <a:cs typeface="Consolas"/>
                </a:rPr>
                <a:t>48 / 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